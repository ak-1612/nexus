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JetBrains Mono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4619fc7d-3f47-43d9-9a92-07d6c2629892.fntdata" /><ns0:Relationship Id="rIdFont18" Type="http://schemas.openxmlformats.org/officeDocument/2006/relationships/font" Target="fonts/c2fbf4c9-9c81-4dc5-96a4-d9635f594a33.fntdata" /><ns0:Relationship Id="rIdFont19" Type="http://schemas.openxmlformats.org/officeDocument/2006/relationships/font" Target="fonts/5fc226f2-0498-4dbf-ad62-81fa64bd5130.fntdata" /><ns0:Relationship Id="rIdFont20" Type="http://schemas.openxmlformats.org/officeDocument/2006/relationships/font" Target="fonts/41b91466-f041-44ca-8e40-a72950f0def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06205"/>
            <a:ext cx="10668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40620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14700" y="4715767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38975" y="4715767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65994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146994"/>
            <a:ext cx="99012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0F172A"/>
                </a:solidFill>
                <a:latin typeface="Plus Jakarta Sans"/>
              </a:rPr>
              <a:t>Enterprise LLM Token Optimization &amp; Dynamic Model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76625"/>
            <a:ext cx="7905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Architectural Strategies &amp; Mathematical Foundations to Cut API Spend by 50%–85% Without Sacrificing Output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1770757"/>
            <a:ext cx="3309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ENTERPRISE AI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682430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TARGET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853880"/>
            <a:ext cx="2809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50%–85% 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4682430"/>
            <a:ext cx="3881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LATENCY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4853880"/>
            <a:ext cx="3881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Sub-20ms Zero-Token Intercepts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3300" y="4682430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ACCURACY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3300" y="4853880"/>
            <a:ext cx="3714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95%+ Frontier Benchmark Parity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77400" y="609600"/>
            <a:ext cx="190500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28900"/>
            <a:ext cx="3555950" cy="1133475"/>
          </a:xfrm>
          <a:prstGeom prst="roundRect">
            <a:avLst>
              <a:gd name="adj" fmla="val 84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2628900"/>
            <a:ext cx="3555950" cy="1133475"/>
          </a:xfrm>
          <a:prstGeom prst="roundRect">
            <a:avLst>
              <a:gd name="adj" fmla="val 84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628900"/>
            <a:ext cx="3555950" cy="1133475"/>
          </a:xfrm>
          <a:prstGeom prst="roundRect">
            <a:avLst>
              <a:gd name="adj" fmla="val 84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14775"/>
            <a:ext cx="3555950" cy="1133475"/>
          </a:xfrm>
          <a:prstGeom prst="roundRect">
            <a:avLst>
              <a:gd name="adj" fmla="val 84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7950" y="3914775"/>
            <a:ext cx="3555950" cy="1133475"/>
          </a:xfrm>
          <a:prstGeom prst="roundRect">
            <a:avLst>
              <a:gd name="adj" fmla="val 84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6300" y="3914775"/>
            <a:ext cx="3555950" cy="1133475"/>
          </a:xfrm>
          <a:prstGeom prst="roundRect">
            <a:avLst>
              <a:gd name="adj" fmla="val 84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852737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975" y="2852737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25" y="2852737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138612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975" y="4138612"/>
            <a:ext cx="2190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6325" y="4138612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91700" y="666750"/>
            <a:ext cx="1771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JetBrains Mono"/>
              </a:rPr>
              <a:t>Full Request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6215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ARCHITECTURAL TAXONOMY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652581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6 Pillars of Token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124200"/>
            <a:ext cx="3251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Vector semantic caching returning $0 responses under 20ms.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975" y="3124200"/>
            <a:ext cx="3251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Entropy-based pruning trimming input tokens by 30%–60%.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6325" y="3124200"/>
            <a:ext cx="3251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Reusing GPU prompt state for 50%–90% input discounts.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410075"/>
            <a:ext cx="3251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Triage cascades matching prompt complexity to low-cost models.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975" y="4410075"/>
            <a:ext cx="3251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Logit-level grammar constraints cutting output tokens by 20%–40%.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325" y="4410075"/>
            <a:ext cx="3251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Proxy sidecars enforcing spend limits and failover cascades.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275" y="2828925"/>
            <a:ext cx="257532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Zero-Token Intercept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5625" y="2828925"/>
            <a:ext cx="262532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Prompt Compression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3975" y="2828925"/>
            <a:ext cx="25253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Provider KV Caching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6325" y="4114800"/>
            <a:ext cx="21502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4. Dynamic Routing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2300" y="4114800"/>
            <a:ext cx="20877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5. Schema Locking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3025" y="4114800"/>
            <a:ext cx="25503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6. Enterprise Gateways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8400" y="1928812"/>
            <a:ext cx="533400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3176587"/>
            <a:ext cx="533400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8400" y="4424362"/>
            <a:ext cx="533400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1928812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3176587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400" y="4424362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98601"/>
            <a:ext cx="5334000" cy="66064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336726"/>
            <a:ext cx="3569196" cy="2605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PILLAR 1: INPUT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Algorithmic Prompt &amp; Context Compression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727126"/>
            <a:ext cx="6667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Conditional Self-Information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49749"/>
            <a:ext cx="5429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Small budget models (GPT-2, Llama-8B) compute token surprisal. Highly predictable syntax tokens with low conditional entropy are safely pruned before API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119312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Microsoft LLMLingua-1/2 &amp; LongLLMLingua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2395537"/>
            <a:ext cx="5010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3x to 20x prompt compression maintaining 95% downstream task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367087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Selective Context (Self-Information)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3643312"/>
            <a:ext cx="5010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Strips low-information sentences, cutting conversational logs by 30%–50%.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614862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Two-Stage Cross-Encoder RAG Reranking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891087"/>
            <a:ext cx="5010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Cohere Rerank 3.5 selects top 2–4 passages, eliminating 80% of RAG window bloat.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033962"/>
            <a:ext cx="109728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462212"/>
            <a:ext cx="213285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2455" y="2462212"/>
            <a:ext cx="280139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43847" y="2462212"/>
            <a:ext cx="161791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61758" y="2462212"/>
            <a:ext cx="442064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952750"/>
            <a:ext cx="21328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2455" y="2952750"/>
            <a:ext cx="2801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43847" y="2952750"/>
            <a:ext cx="1617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61758" y="2952750"/>
            <a:ext cx="4420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638550"/>
            <a:ext cx="21328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2455" y="3638550"/>
            <a:ext cx="2801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43847" y="3638550"/>
            <a:ext cx="1617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61758" y="3638550"/>
            <a:ext cx="4420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114800"/>
            <a:ext cx="21328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2455" y="4114800"/>
            <a:ext cx="2801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43847" y="4114800"/>
            <a:ext cx="1617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61758" y="4114800"/>
            <a:ext cx="4420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4791075"/>
            <a:ext cx="21328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2455" y="4791075"/>
            <a:ext cx="2801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43847" y="4791075"/>
            <a:ext cx="1617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61758" y="4791075"/>
            <a:ext cx="4420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338762"/>
            <a:ext cx="238125" cy="266700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09600" y="1843087"/>
          <a:ext cx="10972797" cy="2962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32855"/>
                <a:gridCol w="2801391"/>
                <a:gridCol w="1617910"/>
                <a:gridCol w="4420641"/>
              </a:tblGrid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Platform / Runtime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Caching Mechanism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Minimum Threshold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Economic &amp; Latency Benefit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OpenAI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Automatic Prompt Caching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1,024 Tokens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50% discount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on input tokens; TTFT latency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Anthropic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Explicit Cache Control (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ephemeral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1,024 Tokens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90% discount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on cached input tokens; 5-min TTL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Google Gemini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Context Caching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32,768 Tokens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80%–90% cost cut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for massive static context windows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SGLang (Open Source)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RadixAttention Radix Trees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Dynamic Prefix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Automatic GPU memory prefix sharing across multi-turn trees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PILLAR 2: PROMPT MEMORY REUSE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Architectural &amp; Provider-Level KV Caching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5233987"/>
            <a:ext cx="10953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RadixAttention &amp; GPU Prefix Memory Trees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5491162"/>
            <a:ext cx="10906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Maps prompt prefix tokens directly to KV cache tensors in GPU memory, avoiding duplicate prefill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38250"/>
            <a:ext cx="10972800" cy="847725"/>
          </a:xfrm>
          <a:prstGeom prst="roundRect">
            <a:avLst>
              <a:gd name="adj" fmla="val 112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9625" y="1438275"/>
            <a:ext cx="2371725" cy="447675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43300" y="1438275"/>
            <a:ext cx="2371725" cy="447675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76975" y="1438275"/>
            <a:ext cx="2371725" cy="447675"/>
          </a:xfrm>
          <a:prstGeom prst="roundRect">
            <a:avLst>
              <a:gd name="adj" fmla="val 12765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0650" y="1438275"/>
            <a:ext cx="2371725" cy="447675"/>
          </a:xfrm>
          <a:prstGeom prst="roundRect">
            <a:avLst>
              <a:gd name="adj" fmla="val 12765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29350" y="3167062"/>
            <a:ext cx="5353050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350" y="4433887"/>
            <a:ext cx="5353050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158591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158591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158591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943350"/>
            <a:ext cx="3631108" cy="3723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PILLAR 3: SEMANTIC INTERCEPTION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Zero-Token Interception &amp; Vector 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459" y="1552575"/>
            <a:ext cx="27360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User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1134" y="1552575"/>
            <a:ext cx="27360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Dense 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809" y="1552575"/>
            <a:ext cx="27360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Plus Jakarta Sans"/>
              </a:rPr>
              <a:t>ANN Vector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8484" y="1552575"/>
            <a:ext cx="27360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5803D"/>
                </a:solidFill>
                <a:latin typeface="Plus Jakarta Sans"/>
              </a:rPr>
              <a:t>Score ≥ 0.95 ($0)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380482"/>
            <a:ext cx="669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Cosine Similarity Decision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668142"/>
            <a:ext cx="54483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When similarity exceeds threshold 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τ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(0.92–0.96), cached completions are served immediately without dispatching to vendor APIs.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367087"/>
            <a:ext cx="5762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GPTCache &amp; Vector L2 Stores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643312"/>
            <a:ext cx="5048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Bypasses LLM execution for 10%–30% of traffic at sub-20ms latency.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4633912"/>
            <a:ext cx="5762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Graph Memory Compression (Zep / Mem0)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4910137"/>
            <a:ext cx="5048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Distills multi-turn chat logs into compact graph nodes, cutting context loads by 70%–90%.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28887"/>
            <a:ext cx="3505200" cy="1924050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 w="381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44341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28887"/>
            <a:ext cx="350520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5288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05275" y="25288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2528887"/>
            <a:ext cx="3505200" cy="1924050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444341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52888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5288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5288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2528887"/>
            <a:ext cx="3505200" cy="1924050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 w="381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444341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528887"/>
            <a:ext cx="35052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25288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72875" y="25288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7725" y="4005262"/>
            <a:ext cx="1981200" cy="247650"/>
          </a:xfrm>
          <a:prstGeom prst="roundRect">
            <a:avLst>
              <a:gd name="adj" fmla="val 1538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1525" y="4005262"/>
            <a:ext cx="1981200" cy="247650"/>
          </a:xfrm>
          <a:prstGeom prst="roundRect">
            <a:avLst>
              <a:gd name="adj" fmla="val 1538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15325" y="4005262"/>
            <a:ext cx="2133600" cy="247650"/>
          </a:xfrm>
          <a:prstGeom prst="roundRect">
            <a:avLst>
              <a:gd name="adj" fmla="val 15384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PILLAR 4: MODEL CASCADES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Dynamic Model Routing &amp; Task 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757487"/>
            <a:ext cx="3143250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Tier 1: Low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757487"/>
            <a:ext cx="3143250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Tier 2: Mid Complexity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2757487"/>
            <a:ext cx="3143250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333EA"/>
                </a:solidFill>
                <a:latin typeface="Plus Jakarta Sans"/>
              </a:rPr>
              <a:t>Tier 3: High 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6048375"/>
            <a:ext cx="4833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RouteLLM (UC Berkeley / LMSYS) Benchmark Result: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6048375"/>
            <a:ext cx="5505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Retains 95% GPT-4 Quality at 50%–85% Lower Total API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3071812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Fast SLMs &amp; Mini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424237"/>
            <a:ext cx="3124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Formatting, extraction, simple classification tasks.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" y="4043362"/>
            <a:ext cx="1924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JetBrains Mono"/>
              </a:rPr>
              <a:t>Llama-3-8B / GPT-4o-mini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525" y="3071812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Mid-Tier 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525" y="3424237"/>
            <a:ext cx="3124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Summarization, standard business logic, standard QA.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7725" y="4043362"/>
            <a:ext cx="1924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369A1"/>
                </a:solidFill>
                <a:latin typeface="JetBrains Mono"/>
              </a:rPr>
              <a:t>Claude-Haiku / Llama-70B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5325" y="3071812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Frontier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325" y="3424237"/>
            <a:ext cx="3124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Complex code generation, multi-step math reasoning.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1525" y="4043362"/>
            <a:ext cx="2076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E22CE"/>
                </a:solidFill>
                <a:latin typeface="JetBrains Mono"/>
              </a:rPr>
              <a:t>Claude 3.5 Sonnet / GPT-4o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3505200" cy="1781175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52762"/>
            <a:ext cx="3505200" cy="1571625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38462"/>
            <a:ext cx="3505200" cy="1800225"/>
          </a:xfrm>
          <a:prstGeom prst="roundRect">
            <a:avLst>
              <a:gd name="adj" fmla="val 52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86125" y="3228975"/>
            <a:ext cx="552450" cy="228600"/>
          </a:xfrm>
          <a:prstGeom prst="roundRect">
            <a:avLst>
              <a:gd name="adj" fmla="val 1666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19925" y="3333750"/>
            <a:ext cx="552450" cy="228600"/>
          </a:xfrm>
          <a:prstGeom prst="roundRect">
            <a:avLst>
              <a:gd name="adj" fmla="val 1666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59938" y="3262312"/>
            <a:ext cx="846236" cy="3810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ROUTER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Commercial Router Architectures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76637"/>
            <a:ext cx="30480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Real-Time Capability Matrix evaluating model representation behaviors to select the cheapest capable endpoint.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681412"/>
            <a:ext cx="3048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Multi-Dimensional Router optimizing against hard user thresholds (e.g., Quality ≥ 0.85, Latency &lt; 500ms).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05237"/>
            <a:ext cx="30480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Unified API proxy layers providing automated model cascades, spend ceilings, and failover routing.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224212"/>
            <a:ext cx="10401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Martian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2325" y="3267075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2410C"/>
                </a:solidFill>
                <a:latin typeface="JetBrains Mono"/>
              </a:rPr>
              <a:t>YC W23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328987"/>
            <a:ext cx="10501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Unify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6125" y="3371850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2410C"/>
                </a:solidFill>
                <a:latin typeface="JetBrains Mono"/>
              </a:rPr>
              <a:t>YC W24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214687"/>
            <a:ext cx="2311851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OpenRouter / OneTriangle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6138" y="3300412"/>
            <a:ext cx="78908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338CA"/>
                </a:solidFill>
                <a:latin typeface="JetBrains Mono"/>
              </a:rPr>
              <a:t>Proxy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8900"/>
            <a:ext cx="5610225" cy="2419350"/>
          </a:xfrm>
          <a:prstGeom prst="roundRect">
            <a:avLst>
              <a:gd name="adj" fmla="val 393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5825" y="3600450"/>
            <a:ext cx="5057775" cy="628650"/>
          </a:xfrm>
          <a:prstGeom prst="roundRect">
            <a:avLst>
              <a:gd name="adj" fmla="val 606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5825" y="3600450"/>
            <a:ext cx="38100" cy="6286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4343400"/>
            <a:ext cx="5057775" cy="428625"/>
          </a:xfrm>
          <a:prstGeom prst="roundRect">
            <a:avLst>
              <a:gd name="adj" fmla="val 888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5825" y="4343400"/>
            <a:ext cx="38100" cy="42862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24625" y="2647950"/>
            <a:ext cx="5057775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24625" y="3914775"/>
            <a:ext cx="5057775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PILLAR 5: OUTPUT CONSTRAINING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Output Schema Locking &amp; Speculative Decoding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895600"/>
            <a:ext cx="5172075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The 4x Cost Asymmetry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181350"/>
            <a:ext cx="663832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Eliminating Conversational Bloat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714750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Plus Jakarta Sans"/>
              </a:rPr>
              <a:t>Standard: "Sure! Here is the JSON: {\"status\": \"success\"}" (18 tokens)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457700"/>
            <a:ext cx="49244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66534"/>
                </a:solidFill>
                <a:latin typeface="Plus Jakarta Sans"/>
              </a:rPr>
              <a:t>Constrained: {\"status\":\"success\"} (5 tokens) → 72%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2847975"/>
            <a:ext cx="5467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Grammar-Guided Generation (Outlines / Instructor)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3124200"/>
            <a:ext cx="47529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Constructs Finite State Machines to mask invalid logits during sampling, cutting output volume by 20%–40%.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4114800"/>
            <a:ext cx="5467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Speculative Decoding (Draft-Target Execution)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391025"/>
            <a:ext cx="47529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Draft model generates candidate tokens verified by target model in parallel, accelerating latency by 2x–3x.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67000"/>
            <a:ext cx="2600325" cy="1990725"/>
          </a:xfrm>
          <a:prstGeom prst="roundRect">
            <a:avLst>
              <a:gd name="adj" fmla="val 38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776537"/>
            <a:ext cx="2600325" cy="1771650"/>
          </a:xfrm>
          <a:prstGeom prst="roundRect">
            <a:avLst>
              <a:gd name="adj" fmla="val 43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667000"/>
            <a:ext cx="2600325" cy="1990725"/>
          </a:xfrm>
          <a:prstGeom prst="roundRect">
            <a:avLst>
              <a:gd name="adj" fmla="val 38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776537"/>
            <a:ext cx="2600325" cy="1771650"/>
          </a:xfrm>
          <a:prstGeom prst="roundRect">
            <a:avLst>
              <a:gd name="adj" fmla="val 43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05125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014662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90512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014662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PILLAR 6: FINANCIAL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Enterprise Proxies &amp; Gateway Sidecars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6200775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Primary Gateways Evaluated: LiteLLM Sidecar Proxy &amp; Portkey Enterprise Control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248025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Unified Abstraction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43300"/>
            <a:ext cx="221932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Standardizes 100+ vendor endpoints into one OpenAI-compatible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35756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Budget Ceilings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652837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Enforces user-, team-, and project-level hard spend limits in real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248025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Fallback Cascades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543300"/>
            <a:ext cx="221932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Reroutes requests instantly upon HTTP 429 rate limits or 5xx provider outages.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35756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Cost Accounting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652837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Logs exact token consumption and financial spend per request trace.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633662"/>
            <a:ext cx="189726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06860" y="2633662"/>
            <a:ext cx="293131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38179" y="2633662"/>
            <a:ext cx="303177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69957" y="2633662"/>
            <a:ext cx="192747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97430" y="2633662"/>
            <a:ext cx="118496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24200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06860" y="3124200"/>
            <a:ext cx="293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38179" y="3124200"/>
            <a:ext cx="3031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69957" y="3124200"/>
            <a:ext cx="192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97430" y="3124200"/>
            <a:ext cx="11849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600450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06860" y="3600450"/>
            <a:ext cx="293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38179" y="3600450"/>
            <a:ext cx="3031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69957" y="3600450"/>
            <a:ext cx="192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7430" y="3600450"/>
            <a:ext cx="11849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076700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06860" y="4076700"/>
            <a:ext cx="293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38179" y="4076700"/>
            <a:ext cx="3031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69957" y="4076700"/>
            <a:ext cx="192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7430" y="4076700"/>
            <a:ext cx="11849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4552950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06860" y="4552950"/>
            <a:ext cx="293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38179" y="4552950"/>
            <a:ext cx="3031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69957" y="4552950"/>
            <a:ext cx="192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97430" y="4552950"/>
            <a:ext cx="11849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5029200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06860" y="5029200"/>
            <a:ext cx="293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38179" y="5029200"/>
            <a:ext cx="3031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69957" y="5029200"/>
            <a:ext cx="192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7430" y="5029200"/>
            <a:ext cx="11849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5505450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06860" y="5505450"/>
            <a:ext cx="293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8179" y="5505450"/>
            <a:ext cx="3031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69957" y="5505450"/>
            <a:ext cx="192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97430" y="5505450"/>
            <a:ext cx="11849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09600" y="2195512"/>
          <a:ext cx="10972797" cy="33242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97260"/>
                <a:gridCol w="2931318"/>
                <a:gridCol w="3031777"/>
                <a:gridCol w="1927473"/>
                <a:gridCol w="1184969"/>
              </a:tblGrid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Strategy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Framework / Technology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Target Benefit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Latency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Zero-Token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GPTCache / Redis 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$0 cost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for 10%–30% of queries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6A34A"/>
                          </a:solidFill>
                          <a:latin typeface="JetBrains Mono"/>
                        </a:rPr>
                        <a:t>-90% (Sub-20ms)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Input Compression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LLMLingua / The Token Co.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30%–60% prompt token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+20ms to 50ms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Provider KV Caching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OpenAI / Anthropic Caching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50%–90% input cost discount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6A34A"/>
                          </a:solidFill>
                          <a:latin typeface="JetBrains Mono"/>
                        </a:rPr>
                        <a:t>-40% TTFT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Very 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Dynamic Routing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RouteLLM / Martian / Unify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50%–85% total cost savings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+10ms to 30ms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Output Constraining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Outlines / Instructor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20%–40% output token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6A34A"/>
                          </a:solidFill>
                          <a:latin typeface="JetBrains Mono"/>
                        </a:rPr>
                        <a:t>Faster / Neutral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89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Enterprise Gateway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LiteLLM / Portkey Sidecar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Hard budget caps &amp; 100% uptime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JetBrains Mono"/>
                        </a:rPr>
                        <a:t>+5ms to 10ms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BENCHMARK 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Master Strategy Performance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