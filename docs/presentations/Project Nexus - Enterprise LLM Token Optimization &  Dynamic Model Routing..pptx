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Plus Jakarta Sans"/>
      <p:regular r:id="rId13"/>
      <p:bold r:id="rId14"/>
      <p:italic r:id="rId15"/>
      <p:boldItalic r:id="rId16"/>
    </p:embeddedFont>
    <p:embeddedFont>
      <p:font typeface="JetBrains Mon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94">
          <p15:clr>
            <a:srgbClr val="000000"/>
          </p15:clr>
        </p15:guide>
        <p15:guide id="2" pos="2880">
          <p15:clr>
            <a:srgbClr val="000000"/>
          </p15:clr>
        </p15:guide>
        <p15:guide id="3" pos="666">
          <p15:clr>
            <a:srgbClr val="747775"/>
          </p15:clr>
        </p15:guide>
        <p15:guide id="4" orient="horz" pos="1110">
          <p15:clr>
            <a:srgbClr val="747775"/>
          </p15:clr>
        </p15:guide>
        <p15:guide id="5" orient="horz" pos="2792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haRqr+1lQSuuD2Oj4XswAxVScy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94" orient="horz"/>
        <p:guide pos="2880"/>
        <p:guide pos="666"/>
        <p:guide pos="1110" orient="horz"/>
        <p:guide pos="279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etBrains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font" Target="fonts/PlusJakartaSans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usJakartaSans-italic.fntdata"/><Relationship Id="rId14" Type="http://schemas.openxmlformats.org/officeDocument/2006/relationships/font" Target="fonts/PlusJakartaSans-bold.fntdata"/><Relationship Id="rId17" Type="http://schemas.openxmlformats.org/officeDocument/2006/relationships/font" Target="fonts/JetBrainsMono-regular.fntdata"/><Relationship Id="rId16" Type="http://schemas.openxmlformats.org/officeDocument/2006/relationships/font" Target="fonts/PlusJakartaSans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JetBrainsMono-italic.fntdata"/><Relationship Id="rId6" Type="http://schemas.openxmlformats.org/officeDocument/2006/relationships/slide" Target="slides/slide1.xml"/><Relationship Id="rId18" Type="http://schemas.openxmlformats.org/officeDocument/2006/relationships/font" Target="fonts/JetBrains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3.png"/><Relationship Id="rId6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5791200" y="4413795"/>
            <a:ext cx="609600" cy="381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1068" y="1815554"/>
            <a:ext cx="1809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470296" y="2234654"/>
            <a:ext cx="112515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latin typeface="Plus Jakarta Sans"/>
                <a:ea typeface="Plus Jakarta Sans"/>
                <a:cs typeface="Plus Jakarta Sans"/>
                <a:sym typeface="Plus Jakarta Sans"/>
              </a:rPr>
              <a:t>Project Nexus :</a:t>
            </a:r>
            <a:br>
              <a:rPr b="1" lang="en-US" sz="4200"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1" i="0" lang="en-US" sz="4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Enterprise LLM Token Optimization &amp;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Dynamic Model Routing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738187" y="4756695"/>
            <a:ext cx="10715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Architectural Patterns,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</a:t>
            </a:r>
            <a:r>
              <a:rPr b="1" i="0" lang="en-US" sz="1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chestration, and API Management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4734520" y="1825079"/>
            <a:ext cx="301823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GITHUB.COM/AK-1612/NEXUS 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609600" y="1438275"/>
            <a:ext cx="5372100" cy="2366962"/>
          </a:xfrm>
          <a:prstGeom prst="roundRect">
            <a:avLst>
              <a:gd fmla="val 321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6210300" y="1438275"/>
            <a:ext cx="5372100" cy="2366962"/>
          </a:xfrm>
          <a:prstGeom prst="roundRect">
            <a:avLst>
              <a:gd fmla="val 321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609600" y="4033837"/>
            <a:ext cx="5372100" cy="2366962"/>
          </a:xfrm>
          <a:prstGeom prst="roundRect">
            <a:avLst>
              <a:gd fmla="val 321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6210300" y="4033837"/>
            <a:ext cx="5372100" cy="2366962"/>
          </a:xfrm>
          <a:prstGeom prst="roundRect">
            <a:avLst>
              <a:gd fmla="val 321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609600" y="3786187"/>
            <a:ext cx="53721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609600" y="1438275"/>
            <a:ext cx="5372100" cy="762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609600" y="1438275"/>
            <a:ext cx="19050" cy="236696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5962650" y="1438275"/>
            <a:ext cx="19050" cy="236696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6210300" y="3786187"/>
            <a:ext cx="53721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210300" y="1438275"/>
            <a:ext cx="5372100" cy="762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6210300" y="1438275"/>
            <a:ext cx="19050" cy="236696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11563350" y="1438275"/>
            <a:ext cx="19050" cy="236696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609600" y="6381750"/>
            <a:ext cx="53721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09600" y="4033837"/>
            <a:ext cx="5372100" cy="762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609600" y="4033837"/>
            <a:ext cx="19050" cy="236696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5962650" y="4033837"/>
            <a:ext cx="19050" cy="236696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6210300" y="6381750"/>
            <a:ext cx="53721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6210300" y="4033837"/>
            <a:ext cx="5372100" cy="762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6210300" y="4033837"/>
            <a:ext cx="19050" cy="236696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11563350" y="4033837"/>
            <a:ext cx="19050" cy="236696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3" name="Google Shape;11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450" y="1819275"/>
            <a:ext cx="47244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4150" y="1819275"/>
            <a:ext cx="47244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3450" y="4414837"/>
            <a:ext cx="47244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4150" y="4414837"/>
            <a:ext cx="47244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SUMMARY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Strategic Optimization Overview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933450" y="2390775"/>
            <a:ext cx="6200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Business Challenge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933450" y="2790825"/>
            <a:ext cx="59055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 token consumption &amp; unoptimized costs.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6534150" y="2390775"/>
            <a:ext cx="56578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Proposed Solution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6534150" y="2790825"/>
            <a:ext cx="565785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Dynamic routing via prompt complexity.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933450" y="4986337"/>
            <a:ext cx="6200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Deliverable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933450" y="5386387"/>
            <a:ext cx="59055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Azure API Management (APIM) infrastructure.</a:t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>
            <a:off x="6534150" y="4986337"/>
            <a:ext cx="56578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Research Scope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6534150" y="5386387"/>
            <a:ext cx="565785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Cascades, speculative decoding, vector caching.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"/>
          <p:cNvSpPr/>
          <p:nvPr/>
        </p:nvSpPr>
        <p:spPr>
          <a:xfrm>
            <a:off x="609600" y="1438275"/>
            <a:ext cx="2571750" cy="4962525"/>
          </a:xfrm>
          <a:prstGeom prst="roundRect">
            <a:avLst>
              <a:gd fmla="val 296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3409950" y="1438275"/>
            <a:ext cx="2571900" cy="4962600"/>
          </a:xfrm>
          <a:prstGeom prst="roundRect">
            <a:avLst>
              <a:gd fmla="val 296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6210300" y="1438275"/>
            <a:ext cx="2571750" cy="4962525"/>
          </a:xfrm>
          <a:prstGeom prst="roundRect">
            <a:avLst>
              <a:gd fmla="val 296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9010650" y="1438275"/>
            <a:ext cx="2571750" cy="4962525"/>
          </a:xfrm>
          <a:prstGeom prst="roundRect">
            <a:avLst>
              <a:gd fmla="val 296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609600" y="6381750"/>
            <a:ext cx="257175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609600" y="1438275"/>
            <a:ext cx="257175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609600" y="1438275"/>
            <a:ext cx="76200" cy="4962525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3162300" y="1438275"/>
            <a:ext cx="19050" cy="4962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3409950" y="6381750"/>
            <a:ext cx="257175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3409950" y="1438275"/>
            <a:ext cx="257175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3409950" y="1438275"/>
            <a:ext cx="76200" cy="4962525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5962650" y="1438275"/>
            <a:ext cx="19050" cy="4962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6210300" y="6381750"/>
            <a:ext cx="257175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6210300" y="1438275"/>
            <a:ext cx="257175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6210300" y="1438275"/>
            <a:ext cx="76200" cy="4962525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8763000" y="1438275"/>
            <a:ext cx="19050" cy="4962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9010650" y="6381750"/>
            <a:ext cx="257175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9010650" y="1438275"/>
            <a:ext cx="257175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9010650" y="1438275"/>
            <a:ext cx="76200" cy="4962525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11563350" y="1438275"/>
            <a:ext cx="19050" cy="4962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1" name="Google Shape;15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762125"/>
            <a:ext cx="561975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300" y="1762125"/>
            <a:ext cx="70485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91650" y="1762125"/>
            <a:ext cx="65722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INFRASTRUCTURE</a:t>
            </a:r>
            <a:endParaRPr/>
          </a:p>
        </p:txBody>
      </p:sp>
      <p:sp>
        <p:nvSpPr>
          <p:cNvPr id="155" name="Google Shape;155;p3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Architecture &amp; Orchestration</a:t>
            </a:r>
            <a:endParaRPr/>
          </a:p>
        </p:txBody>
      </p:sp>
      <p:sp>
        <p:nvSpPr>
          <p:cNvPr id="156" name="Google Shape;156;p3"/>
          <p:cNvSpPr txBox="1"/>
          <p:nvPr/>
        </p:nvSpPr>
        <p:spPr>
          <a:xfrm>
            <a:off x="990600" y="2562225"/>
            <a:ext cx="206025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Central Orchestrator</a:t>
            </a:r>
            <a:endParaRPr/>
          </a:p>
        </p:txBody>
      </p:sp>
      <p:sp>
        <p:nvSpPr>
          <p:cNvPr id="157" name="Google Shape;157;p3"/>
          <p:cNvSpPr txBox="1"/>
          <p:nvPr/>
        </p:nvSpPr>
        <p:spPr>
          <a:xfrm>
            <a:off x="990600" y="3248025"/>
            <a:ext cx="196215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Python execution engine for dynamic switching.</a:t>
            </a:r>
            <a:endParaRPr/>
          </a:p>
        </p:txBody>
      </p:sp>
      <p:sp>
        <p:nvSpPr>
          <p:cNvPr id="158" name="Google Shape;158;p3"/>
          <p:cNvSpPr txBox="1"/>
          <p:nvPr/>
        </p:nvSpPr>
        <p:spPr>
          <a:xfrm>
            <a:off x="3790950" y="2566750"/>
            <a:ext cx="153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Validation</a:t>
            </a:r>
            <a:endParaRPr/>
          </a:p>
        </p:txBody>
      </p:sp>
      <p:sp>
        <p:nvSpPr>
          <p:cNvPr id="159" name="Google Shape;159;p3"/>
          <p:cNvSpPr txBox="1"/>
          <p:nvPr/>
        </p:nvSpPr>
        <p:spPr>
          <a:xfrm>
            <a:off x="3790950" y="3250293"/>
            <a:ext cx="19623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Strict schemas for standardized telemetry payloads.</a:t>
            </a:r>
            <a:endParaRPr/>
          </a:p>
        </p:txBody>
      </p:sp>
      <p:sp>
        <p:nvSpPr>
          <p:cNvPr id="160" name="Google Shape;160;p3"/>
          <p:cNvSpPr txBox="1"/>
          <p:nvPr/>
        </p:nvSpPr>
        <p:spPr>
          <a:xfrm>
            <a:off x="6591300" y="2562225"/>
            <a:ext cx="206025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Simulation Sandbox</a:t>
            </a:r>
            <a:endParaRPr/>
          </a:p>
        </p:txBody>
      </p:sp>
      <p:sp>
        <p:nvSpPr>
          <p:cNvPr id="161" name="Google Shape;161;p3"/>
          <p:cNvSpPr txBox="1"/>
          <p:nvPr/>
        </p:nvSpPr>
        <p:spPr>
          <a:xfrm>
            <a:off x="6591300" y="3248025"/>
            <a:ext cx="19621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Offline mock gateway routing tests.</a:t>
            </a:r>
            <a:endParaRPr/>
          </a:p>
        </p:txBody>
      </p:sp>
      <p:sp>
        <p:nvSpPr>
          <p:cNvPr id="162" name="Google Shape;162;p3"/>
          <p:cNvSpPr txBox="1"/>
          <p:nvPr/>
        </p:nvSpPr>
        <p:spPr>
          <a:xfrm>
            <a:off x="9391650" y="2562225"/>
            <a:ext cx="206025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Infrastructure as Code</a:t>
            </a:r>
            <a:endParaRPr/>
          </a:p>
        </p:txBody>
      </p:sp>
      <p:sp>
        <p:nvSpPr>
          <p:cNvPr id="163" name="Google Shape;163;p3"/>
          <p:cNvSpPr txBox="1"/>
          <p:nvPr/>
        </p:nvSpPr>
        <p:spPr>
          <a:xfrm>
            <a:off x="9391650" y="3248025"/>
            <a:ext cx="19621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Azure Bicep provisioning.</a:t>
            </a:r>
            <a:endParaRPr/>
          </a:p>
        </p:txBody>
      </p:sp>
      <p:pic>
        <p:nvPicPr>
          <p:cNvPr descr="image.png" id="164" name="Google Shape;16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0950" y="1762125"/>
            <a:ext cx="561975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"/>
          <p:cNvSpPr/>
          <p:nvPr/>
        </p:nvSpPr>
        <p:spPr>
          <a:xfrm>
            <a:off x="6438900" y="1133475"/>
            <a:ext cx="5143500" cy="5346000"/>
          </a:xfrm>
          <a:prstGeom prst="roundRect">
            <a:avLst>
              <a:gd fmla="val 10958" name="adj"/>
            </a:avLst>
          </a:prstGeom>
          <a:solidFill>
            <a:srgbClr val="000000"/>
          </a:solidFill>
          <a:ln cap="flat" cmpd="sng" w="1905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highlight>
                  <a:schemeClr val="dk1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&lt;!-- azure-apim-policy-enhanced.xml --&gt;</a:t>
            </a:r>
            <a:endParaRPr sz="1300">
              <a:solidFill>
                <a:srgbClr val="FFFFFF"/>
              </a:solidFill>
              <a:highlight>
                <a:schemeClr val="dk1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highlight>
                  <a:schemeClr val="dk1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&lt;policies&gt;</a:t>
            </a:r>
            <a:endParaRPr sz="1300">
              <a:solidFill>
                <a:srgbClr val="FFFFFF"/>
              </a:solidFill>
              <a:highlight>
                <a:schemeClr val="dk1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highlight>
                  <a:schemeClr val="dk1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&lt;inbound&gt;</a:t>
            </a:r>
            <a:endParaRPr sz="1300">
              <a:solidFill>
                <a:srgbClr val="FFFFFF"/>
              </a:solidFill>
              <a:highlight>
                <a:schemeClr val="dk1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highlight>
                  <a:schemeClr val="dk1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&lt;base /&gt;</a:t>
            </a:r>
            <a:endParaRPr sz="1300">
              <a:solidFill>
                <a:srgbClr val="FFFFFF"/>
              </a:solidFill>
              <a:highlight>
                <a:schemeClr val="dk1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highlight>
                  <a:schemeClr val="dk1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&lt;!-- Dynamic Routing Logic --&gt;</a:t>
            </a:r>
            <a:endParaRPr sz="1300">
              <a:solidFill>
                <a:srgbClr val="FFFFFF"/>
              </a:solidFill>
              <a:highlight>
                <a:schemeClr val="dk1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highlight>
                  <a:schemeClr val="dk1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&lt;choose&gt;</a:t>
            </a:r>
            <a:endParaRPr sz="1300">
              <a:solidFill>
                <a:srgbClr val="FFFFFF"/>
              </a:solidFill>
              <a:highlight>
                <a:schemeClr val="dk1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highlight>
                  <a:schemeClr val="dk1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&lt;when condition="@(context.Variables["complexity"] == "high")"&gt;</a:t>
            </a:r>
            <a:endParaRPr sz="1300">
              <a:solidFill>
                <a:srgbClr val="FFFFFF"/>
              </a:solidFill>
              <a:highlight>
                <a:schemeClr val="dk1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highlight>
                  <a:schemeClr val="dk1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&lt;set-backend-service id="gpt-4o" /&gt;</a:t>
            </a:r>
            <a:endParaRPr sz="1300">
              <a:solidFill>
                <a:srgbClr val="FFFFFF"/>
              </a:solidFill>
              <a:highlight>
                <a:schemeClr val="dk1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highlight>
                  <a:schemeClr val="dk1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&lt;/when&gt;</a:t>
            </a:r>
            <a:endParaRPr sz="1300">
              <a:solidFill>
                <a:srgbClr val="FFFFFF"/>
              </a:solidFill>
              <a:highlight>
                <a:schemeClr val="dk1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highlight>
                  <a:schemeClr val="dk1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&lt;otherwise&gt;</a:t>
            </a:r>
            <a:endParaRPr sz="1300">
              <a:solidFill>
                <a:srgbClr val="FFFFFF"/>
              </a:solidFill>
              <a:highlight>
                <a:schemeClr val="dk1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highlight>
                  <a:schemeClr val="dk1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&lt;set-backend-service id="gpt-4o-mini" /&gt;</a:t>
            </a:r>
            <a:endParaRPr sz="1300">
              <a:solidFill>
                <a:srgbClr val="FFFFFF"/>
              </a:solidFill>
              <a:highlight>
                <a:schemeClr val="dk1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highlight>
                  <a:schemeClr val="dk1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&lt;/otherwise&gt;</a:t>
            </a:r>
            <a:endParaRPr sz="1300">
              <a:solidFill>
                <a:srgbClr val="FFFFFF"/>
              </a:solidFill>
              <a:highlight>
                <a:schemeClr val="dk1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highlight>
                  <a:schemeClr val="dk1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&lt;/choose&gt;</a:t>
            </a:r>
            <a:endParaRPr sz="1300">
              <a:solidFill>
                <a:srgbClr val="FFFFFF"/>
              </a:solidFill>
              <a:highlight>
                <a:schemeClr val="dk1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highlight>
                  <a:schemeClr val="dk1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endParaRPr sz="1300">
              <a:solidFill>
                <a:srgbClr val="FFFFFF"/>
              </a:solidFill>
              <a:highlight>
                <a:schemeClr val="dk1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highlight>
                  <a:schemeClr val="dk1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&lt;!-- Gateway Governance --&gt;</a:t>
            </a:r>
            <a:endParaRPr sz="1300">
              <a:solidFill>
                <a:srgbClr val="FFFFFF"/>
              </a:solidFill>
              <a:highlight>
                <a:schemeClr val="dk1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highlight>
                  <a:schemeClr val="dk1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&lt;rate-limit-by-key calls="100" renewal-period="60" </a:t>
            </a:r>
            <a:endParaRPr sz="1300">
              <a:solidFill>
                <a:srgbClr val="FFFFFF"/>
              </a:solidFill>
              <a:highlight>
                <a:schemeClr val="dk1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highlight>
                  <a:schemeClr val="dk1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            counter-key="@(context.Subscription.Id)" /&gt;</a:t>
            </a:r>
            <a:endParaRPr sz="1300">
              <a:solidFill>
                <a:srgbClr val="FFFFFF"/>
              </a:solidFill>
              <a:highlight>
                <a:schemeClr val="dk1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highlight>
                  <a:schemeClr val="dk1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&lt;/inbound&gt;</a:t>
            </a:r>
            <a:endParaRPr sz="1300">
              <a:solidFill>
                <a:srgbClr val="FFFFFF"/>
              </a:solidFill>
              <a:highlight>
                <a:schemeClr val="dk1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highlight>
                  <a:schemeClr val="dk1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&lt;/policies&gt;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0" name="Google Shape;17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33273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314042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39481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" y="4755802"/>
            <a:ext cx="1714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GATEWAY CONTROLS</a:t>
            </a:r>
            <a:endParaRPr/>
          </a:p>
        </p:txBody>
      </p:sp>
      <p:sp>
        <p:nvSpPr>
          <p:cNvPr id="175" name="Google Shape;175;p4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Azure APIM Policy Implementation</a:t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1057275" y="2304157"/>
            <a:ext cx="44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Traff</a:t>
            </a:r>
            <a:r>
              <a:rPr b="1" i="0" lang="en-US" sz="1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</a:t>
            </a:r>
            <a:r>
              <a:rPr b="1" i="0" lang="en-US" sz="1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 Shaping: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1057275" y="2616547"/>
            <a:ext cx="4429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Standard XML baseline access policies.</a:t>
            </a:r>
            <a:endParaRPr/>
          </a:p>
        </p:txBody>
      </p:sp>
      <p:sp>
        <p:nvSpPr>
          <p:cNvPr id="178" name="Google Shape;178;p4"/>
          <p:cNvSpPr txBox="1"/>
          <p:nvPr/>
        </p:nvSpPr>
        <p:spPr>
          <a:xfrm>
            <a:off x="1066800" y="3111847"/>
            <a:ext cx="4643437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Enhanced Logic:</a:t>
            </a:r>
            <a:endParaRPr/>
          </a:p>
        </p:txBody>
      </p:sp>
      <p:sp>
        <p:nvSpPr>
          <p:cNvPr id="179" name="Google Shape;179;p4"/>
          <p:cNvSpPr txBox="1"/>
          <p:nvPr/>
        </p:nvSpPr>
        <p:spPr>
          <a:xfrm>
            <a:off x="1066800" y="3424237"/>
            <a:ext cx="464343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Dynamic, rule-based endpoint selection.</a:t>
            </a:r>
            <a:endParaRPr/>
          </a:p>
        </p:txBody>
      </p:sp>
      <p:sp>
        <p:nvSpPr>
          <p:cNvPr id="180" name="Google Shape;180;p4"/>
          <p:cNvSpPr txBox="1"/>
          <p:nvPr/>
        </p:nvSpPr>
        <p:spPr>
          <a:xfrm>
            <a:off x="1067734" y="3919537"/>
            <a:ext cx="4476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Gateway Governance:</a:t>
            </a:r>
            <a:endParaRPr/>
          </a:p>
        </p:txBody>
      </p:sp>
      <p:sp>
        <p:nvSpPr>
          <p:cNvPr id="181" name="Google Shape;181;p4"/>
          <p:cNvSpPr txBox="1"/>
          <p:nvPr/>
        </p:nvSpPr>
        <p:spPr>
          <a:xfrm>
            <a:off x="1077072" y="4231927"/>
            <a:ext cx="4476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Strict token limits and latency timeouts.</a:t>
            </a:r>
            <a:endParaRPr/>
          </a:p>
        </p:txBody>
      </p:sp>
      <p:sp>
        <p:nvSpPr>
          <p:cNvPr id="182" name="Google Shape;182;p4"/>
          <p:cNvSpPr txBox="1"/>
          <p:nvPr/>
        </p:nvSpPr>
        <p:spPr>
          <a:xfrm>
            <a:off x="1085850" y="4727227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API Specifications:</a:t>
            </a:r>
            <a:endParaRPr/>
          </a:p>
        </p:txBody>
      </p:sp>
      <p:sp>
        <p:nvSpPr>
          <p:cNvPr id="183" name="Google Shape;183;p4"/>
          <p:cNvSpPr txBox="1"/>
          <p:nvPr/>
        </p:nvSpPr>
        <p:spPr>
          <a:xfrm>
            <a:off x="1085850" y="5039617"/>
            <a:ext cx="4905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Standardized OpenAPI endpoint contracts.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"/>
          <p:cNvSpPr/>
          <p:nvPr/>
        </p:nvSpPr>
        <p:spPr>
          <a:xfrm>
            <a:off x="3224212" y="3443287"/>
            <a:ext cx="19050" cy="952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6086475" y="3443287"/>
            <a:ext cx="19050" cy="952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8948737" y="3443287"/>
            <a:ext cx="19050" cy="952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1497806" y="3124200"/>
            <a:ext cx="609600" cy="6096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4360068" y="3124200"/>
            <a:ext cx="609600" cy="6096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7222331" y="3124200"/>
            <a:ext cx="609600" cy="6096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10084593" y="3117933"/>
            <a:ext cx="609600" cy="6096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RELIABILITY</a:t>
            </a:r>
            <a:endParaRPr/>
          </a:p>
        </p:txBody>
      </p:sp>
      <p:sp>
        <p:nvSpPr>
          <p:cNvPr id="196" name="Google Shape;196;p5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Testing &amp; Quality Assurance</a:t>
            </a:r>
            <a:endParaRPr/>
          </a:p>
        </p:txBody>
      </p:sp>
      <p:sp>
        <p:nvSpPr>
          <p:cNvPr id="197" name="Google Shape;197;p5"/>
          <p:cNvSpPr txBox="1"/>
          <p:nvPr/>
        </p:nvSpPr>
        <p:spPr>
          <a:xfrm>
            <a:off x="1354931" y="3124200"/>
            <a:ext cx="895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E6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/>
          </a:p>
        </p:txBody>
      </p:sp>
      <p:sp>
        <p:nvSpPr>
          <p:cNvPr id="198" name="Google Shape;198;p5"/>
          <p:cNvSpPr txBox="1"/>
          <p:nvPr/>
        </p:nvSpPr>
        <p:spPr>
          <a:xfrm>
            <a:off x="536823" y="3962400"/>
            <a:ext cx="253156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Suites</a:t>
            </a:r>
            <a:endParaRPr/>
          </a:p>
        </p:txBody>
      </p:sp>
      <p:sp>
        <p:nvSpPr>
          <p:cNvPr id="199" name="Google Shape;199;p5"/>
          <p:cNvSpPr txBox="1"/>
          <p:nvPr/>
        </p:nvSpPr>
        <p:spPr>
          <a:xfrm>
            <a:off x="597098" y="4314825"/>
            <a:ext cx="24110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Comprehensive PyTest integration pipelines.</a:t>
            </a:r>
            <a:endParaRPr/>
          </a:p>
        </p:txBody>
      </p:sp>
      <p:sp>
        <p:nvSpPr>
          <p:cNvPr id="200" name="Google Shape;200;p5"/>
          <p:cNvSpPr txBox="1"/>
          <p:nvPr/>
        </p:nvSpPr>
        <p:spPr>
          <a:xfrm>
            <a:off x="4217193" y="3124200"/>
            <a:ext cx="895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E6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/>
          </a:p>
        </p:txBody>
      </p:sp>
      <p:sp>
        <p:nvSpPr>
          <p:cNvPr id="201" name="Google Shape;201;p5"/>
          <p:cNvSpPr txBox="1"/>
          <p:nvPr/>
        </p:nvSpPr>
        <p:spPr>
          <a:xfrm>
            <a:off x="3399085" y="3962400"/>
            <a:ext cx="253156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APIM Validation</a:t>
            </a:r>
            <a:endParaRPr/>
          </a:p>
        </p:txBody>
      </p:sp>
      <p:sp>
        <p:nvSpPr>
          <p:cNvPr id="202" name="Google Shape;202;p5"/>
          <p:cNvSpPr txBox="1"/>
          <p:nvPr/>
        </p:nvSpPr>
        <p:spPr>
          <a:xfrm>
            <a:off x="3459360" y="4314825"/>
            <a:ext cx="24110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Load-tested endpoint routing verification.</a:t>
            </a:r>
            <a:endParaRPr/>
          </a:p>
        </p:txBody>
      </p:sp>
      <p:sp>
        <p:nvSpPr>
          <p:cNvPr id="203" name="Google Shape;203;p5"/>
          <p:cNvSpPr txBox="1"/>
          <p:nvPr/>
        </p:nvSpPr>
        <p:spPr>
          <a:xfrm>
            <a:off x="7079456" y="3124200"/>
            <a:ext cx="895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E6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/>
          </a:p>
        </p:txBody>
      </p:sp>
      <p:sp>
        <p:nvSpPr>
          <p:cNvPr id="204" name="Google Shape;204;p5"/>
          <p:cNvSpPr txBox="1"/>
          <p:nvPr/>
        </p:nvSpPr>
        <p:spPr>
          <a:xfrm>
            <a:off x="6261348" y="3962400"/>
            <a:ext cx="253156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Component Tests</a:t>
            </a:r>
            <a:endParaRPr/>
          </a:p>
        </p:txBody>
      </p:sp>
      <p:sp>
        <p:nvSpPr>
          <p:cNvPr id="205" name="Google Shape;205;p5"/>
          <p:cNvSpPr txBox="1"/>
          <p:nvPr/>
        </p:nvSpPr>
        <p:spPr>
          <a:xfrm>
            <a:off x="6321623" y="4314825"/>
            <a:ext cx="241101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Orchestrator and schema stability validation.</a:t>
            </a:r>
            <a:endParaRPr/>
          </a:p>
        </p:txBody>
      </p:sp>
      <p:sp>
        <p:nvSpPr>
          <p:cNvPr id="206" name="Google Shape;206;p5"/>
          <p:cNvSpPr txBox="1"/>
          <p:nvPr/>
        </p:nvSpPr>
        <p:spPr>
          <a:xfrm>
            <a:off x="9941718" y="3318459"/>
            <a:ext cx="89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E6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</a:t>
            </a:r>
            <a:endParaRPr/>
          </a:p>
        </p:txBody>
      </p:sp>
      <p:sp>
        <p:nvSpPr>
          <p:cNvPr id="207" name="Google Shape;207;p5"/>
          <p:cNvSpPr txBox="1"/>
          <p:nvPr/>
        </p:nvSpPr>
        <p:spPr>
          <a:xfrm>
            <a:off x="9123610" y="3968666"/>
            <a:ext cx="2531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Continuous Integration</a:t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9183885" y="4333624"/>
            <a:ext cx="24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GitHub Actions automated pipelines.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"/>
          <p:cNvSpPr/>
          <p:nvPr/>
        </p:nvSpPr>
        <p:spPr>
          <a:xfrm>
            <a:off x="609600" y="1438275"/>
            <a:ext cx="4206180" cy="2366962"/>
          </a:xfrm>
          <a:prstGeom prst="roundRect">
            <a:avLst>
              <a:gd fmla="val 321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609600" y="4033837"/>
            <a:ext cx="4206180" cy="2366962"/>
          </a:xfrm>
          <a:prstGeom prst="roundRect">
            <a:avLst>
              <a:gd fmla="val 321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5272980" y="1438275"/>
            <a:ext cx="6309419" cy="419100"/>
          </a:xfrm>
          <a:prstGeom prst="roundRect">
            <a:avLst>
              <a:gd fmla="val 18181" name="adj"/>
            </a:avLst>
          </a:prstGeom>
          <a:solidFill>
            <a:srgbClr val="FFE6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5272980" y="1438275"/>
            <a:ext cx="6309419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5272980" y="1438275"/>
            <a:ext cx="19050" cy="419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11563350" y="1438275"/>
            <a:ext cx="19050" cy="419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5272980" y="1857375"/>
            <a:ext cx="6309419" cy="45434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609600" y="3786187"/>
            <a:ext cx="420618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609600" y="1438275"/>
            <a:ext cx="420618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609600" y="1438275"/>
            <a:ext cx="76200" cy="236696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4796730" y="1438275"/>
            <a:ext cx="19050" cy="236696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609600" y="6381750"/>
            <a:ext cx="420618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609600" y="4033837"/>
            <a:ext cx="420618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609600" y="4033837"/>
            <a:ext cx="76200" cy="236696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4796730" y="4033837"/>
            <a:ext cx="19050" cy="236696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8" name="Google Shape;22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4430" y="1590675"/>
            <a:ext cx="1714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DEVELOPMENT WORKFLOWS</a:t>
            </a:r>
            <a:endParaRPr/>
          </a:p>
        </p:txBody>
      </p:sp>
      <p:sp>
        <p:nvSpPr>
          <p:cNvPr id="230" name="Google Shape;230;p6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Copilot Ecosystem Integration</a:t>
            </a:r>
            <a:endParaRPr/>
          </a:p>
        </p:txBody>
      </p:sp>
      <p:sp>
        <p:nvSpPr>
          <p:cNvPr id="231" name="Google Shape;231;p6"/>
          <p:cNvSpPr txBox="1"/>
          <p:nvPr/>
        </p:nvSpPr>
        <p:spPr>
          <a:xfrm>
            <a:off x="5632445" y="1573282"/>
            <a:ext cx="6099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.github/copilot-instructions.md</a:t>
            </a:r>
            <a:endParaRPr/>
          </a:p>
        </p:txBody>
      </p:sp>
      <p:sp>
        <p:nvSpPr>
          <p:cNvPr id="232" name="Google Shape;232;p6"/>
          <p:cNvSpPr txBox="1"/>
          <p:nvPr/>
        </p:nvSpPr>
        <p:spPr>
          <a:xfrm>
            <a:off x="5501580" y="2085975"/>
            <a:ext cx="5947500" cy="3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Copilot Integration Guidelines </a:t>
            </a:r>
            <a:br>
              <a:rPr b="1" i="0" lang="en-US" sz="10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b="1" i="0" lang="en-US" sz="10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1" i="0" lang="en-US" sz="10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</a:t>
            </a:r>
            <a:r>
              <a:rPr b="1" i="0" lang="en-US" sz="10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</a:t>
            </a:r>
            <a:r>
              <a:rPr b="1" i="0" lang="en-US" sz="10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Routing Rules</a:t>
            </a:r>
            <a:br>
              <a:rPr b="1" lang="en-US" sz="105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1" i="0" lang="en-US" sz="10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Inline Completions: Always route to fast engine (gpt-4o-mini equivalent).</a:t>
            </a:r>
            <a:br>
              <a:rPr b="1" lang="en-US" sz="105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1" i="0" lang="en-US" sz="10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Complex Refactoring: Prompt user to escalate to reasoning models.</a:t>
            </a:r>
            <a:br>
              <a:rPr b="1" i="0" lang="en-US" sz="10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b="1" i="0" lang="en-US" sz="10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1" i="0" lang="en-US" sz="10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## Telemetry Standards</a:t>
            </a:r>
            <a:br>
              <a:rPr b="1" lang="en-US" sz="105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1" i="0" lang="en-US" sz="10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All generated telemetry payloads MUST adhere to `schemas/telemetry_schema.json`.</a:t>
            </a:r>
            <a:br>
              <a:rPr b="1" lang="en-US" sz="105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b="1" lang="en-US" sz="105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1" i="0" lang="en-US" sz="10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## Fallback Mechanism</a:t>
            </a:r>
            <a:br>
              <a:rPr b="1" i="0" lang="en-US" sz="10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1" i="0" lang="en-US" sz="105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the primary gateway is unreachable, automatically target the local sandbox at `localhost:8080/mock-gateway`.</a:t>
            </a:r>
            <a:endParaRPr b="1"/>
          </a:p>
        </p:txBody>
      </p:sp>
      <p:sp>
        <p:nvSpPr>
          <p:cNvPr id="233" name="Google Shape;233;p6"/>
          <p:cNvSpPr txBox="1"/>
          <p:nvPr/>
        </p:nvSpPr>
        <p:spPr>
          <a:xfrm>
            <a:off x="990600" y="1762125"/>
            <a:ext cx="459549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Internal Switching</a:t>
            </a:r>
            <a:endParaRPr/>
          </a:p>
        </p:txBody>
      </p:sp>
      <p:sp>
        <p:nvSpPr>
          <p:cNvPr id="234" name="Google Shape;234;p6"/>
          <p:cNvSpPr txBox="1"/>
          <p:nvPr/>
        </p:nvSpPr>
        <p:spPr>
          <a:xfrm>
            <a:off x="990600" y="2162175"/>
            <a:ext cx="4376663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GPT &amp; Copilot environment routing.</a:t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990600" y="4357687"/>
            <a:ext cx="459549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 Experience</a:t>
            </a:r>
            <a:endParaRPr/>
          </a:p>
        </p:txBody>
      </p:sp>
      <p:sp>
        <p:nvSpPr>
          <p:cNvPr id="236" name="Google Shape;236;p6"/>
          <p:cNvSpPr txBox="1"/>
          <p:nvPr/>
        </p:nvSpPr>
        <p:spPr>
          <a:xfrm>
            <a:off x="990600" y="4757737"/>
            <a:ext cx="359658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Transparent backend optimization with zero friction.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"/>
          <p:cNvSpPr/>
          <p:nvPr/>
        </p:nvSpPr>
        <p:spPr>
          <a:xfrm>
            <a:off x="609600" y="1438275"/>
            <a:ext cx="3505200" cy="3914775"/>
          </a:xfrm>
          <a:prstGeom prst="roundRect">
            <a:avLst>
              <a:gd fmla="val 217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4343400" y="1438275"/>
            <a:ext cx="3505200" cy="3914775"/>
          </a:xfrm>
          <a:prstGeom prst="roundRect">
            <a:avLst>
              <a:gd fmla="val 217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8077200" y="1438275"/>
            <a:ext cx="3505200" cy="3914775"/>
          </a:xfrm>
          <a:prstGeom prst="roundRect">
            <a:avLst>
              <a:gd fmla="val 217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4233862" y="5810250"/>
            <a:ext cx="3724275" cy="590550"/>
          </a:xfrm>
          <a:prstGeom prst="roundRect">
            <a:avLst>
              <a:gd fmla="val 12903" name="adj"/>
            </a:avLst>
          </a:prstGeom>
          <a:solidFill>
            <a:srgbClr val="000000"/>
          </a:solidFill>
          <a:ln cap="flat" cmpd="sng" w="19050">
            <a:solidFill>
              <a:srgbClr val="FFE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609600" y="5334000"/>
            <a:ext cx="35052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609600" y="1438275"/>
            <a:ext cx="3505200" cy="762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609600" y="1438275"/>
            <a:ext cx="19050" cy="39147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4095750" y="1438275"/>
            <a:ext cx="19050" cy="39147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4343400" y="5334000"/>
            <a:ext cx="35052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4343400" y="1438275"/>
            <a:ext cx="3505200" cy="762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4343400" y="1438275"/>
            <a:ext cx="19050" cy="39147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7829550" y="1438275"/>
            <a:ext cx="19050" cy="39147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8077200" y="5334000"/>
            <a:ext cx="35052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8077200" y="1438275"/>
            <a:ext cx="3505200" cy="762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8077200" y="1438275"/>
            <a:ext cx="19050" cy="39147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11563350" y="1438275"/>
            <a:ext cx="19050" cy="39147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7" name="Google Shape;2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450" y="1819275"/>
            <a:ext cx="28575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7250" y="1819275"/>
            <a:ext cx="28575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01050" y="1819275"/>
            <a:ext cx="28575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57712" y="5991225"/>
            <a:ext cx="2190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NEXT STEPS</a:t>
            </a:r>
            <a:endParaRPr/>
          </a:p>
        </p:txBody>
      </p:sp>
      <p:sp>
        <p:nvSpPr>
          <p:cNvPr id="262" name="Google Shape;262;p7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Implementation Roadmap</a:t>
            </a:r>
            <a:endParaRPr/>
          </a:p>
        </p:txBody>
      </p:sp>
      <p:sp>
        <p:nvSpPr>
          <p:cNvPr id="263" name="Google Shape;263;p7"/>
          <p:cNvSpPr txBox="1"/>
          <p:nvPr/>
        </p:nvSpPr>
        <p:spPr>
          <a:xfrm>
            <a:off x="933450" y="2390775"/>
            <a:ext cx="37504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1: Validation</a:t>
            </a:r>
            <a:endParaRPr/>
          </a:p>
        </p:txBody>
      </p:sp>
      <p:sp>
        <p:nvSpPr>
          <p:cNvPr id="264" name="Google Shape;264;p7"/>
          <p:cNvSpPr txBox="1"/>
          <p:nvPr/>
        </p:nvSpPr>
        <p:spPr>
          <a:xfrm>
            <a:off x="933450" y="2790825"/>
            <a:ext cx="2952900" cy="22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4325" lvl="0" marL="45720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Plus Jakarta Sans"/>
              <a:buChar char="●"/>
            </a:pPr>
            <a:r>
              <a:rPr b="0" i="0" lang="en-US" sz="135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Finalize enhanced APIM policies and execute comprehensive PyTest suites across orchestrator endpoints. </a:t>
            </a:r>
            <a:endParaRPr sz="135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4325" lvl="0" marL="45720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Plus Jakarta Sans"/>
              <a:buChar char="●"/>
            </a:pPr>
            <a:r>
              <a:rPr b="0" i="0" lang="en-US" sz="135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Validate edge cases for high-complexity prompt routing.</a:t>
            </a:r>
            <a:endParaRPr/>
          </a:p>
        </p:txBody>
      </p:sp>
      <p:sp>
        <p:nvSpPr>
          <p:cNvPr id="265" name="Google Shape;265;p7"/>
          <p:cNvSpPr txBox="1"/>
          <p:nvPr/>
        </p:nvSpPr>
        <p:spPr>
          <a:xfrm>
            <a:off x="4667250" y="2390775"/>
            <a:ext cx="37504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2: Benchmarking</a:t>
            </a:r>
            <a:endParaRPr/>
          </a:p>
        </p:txBody>
      </p:sp>
      <p:sp>
        <p:nvSpPr>
          <p:cNvPr id="266" name="Google Shape;266;p7"/>
          <p:cNvSpPr txBox="1"/>
          <p:nvPr/>
        </p:nvSpPr>
        <p:spPr>
          <a:xfrm>
            <a:off x="4667250" y="2790825"/>
            <a:ext cx="2952900" cy="19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4325" lvl="0" marL="45720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Plus Jakarta Sans"/>
              <a:buChar char="●"/>
            </a:pPr>
            <a:r>
              <a:rPr b="0" i="0" lang="en-US" sz="135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Evaluate orchestrator latency and token utilization performance against established 3rd-party startup routers. </a:t>
            </a:r>
            <a:endParaRPr b="0" i="0" sz="13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4325" lvl="0" marL="45720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Plus Jakarta Sans"/>
              <a:buChar char="●"/>
            </a:pPr>
            <a:r>
              <a:rPr b="0" i="0" lang="en-US" sz="135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Compile performance metrics for executive review.</a:t>
            </a:r>
            <a:endParaRPr/>
          </a:p>
        </p:txBody>
      </p:sp>
      <p:sp>
        <p:nvSpPr>
          <p:cNvPr id="267" name="Google Shape;267;p7"/>
          <p:cNvSpPr txBox="1"/>
          <p:nvPr/>
        </p:nvSpPr>
        <p:spPr>
          <a:xfrm>
            <a:off x="8401050" y="2390775"/>
            <a:ext cx="310038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3: Enterprise Handoff</a:t>
            </a:r>
            <a:endParaRPr/>
          </a:p>
        </p:txBody>
      </p:sp>
      <p:sp>
        <p:nvSpPr>
          <p:cNvPr id="268" name="Google Shape;268;p7"/>
          <p:cNvSpPr txBox="1"/>
          <p:nvPr/>
        </p:nvSpPr>
        <p:spPr>
          <a:xfrm>
            <a:off x="8401050" y="3076575"/>
            <a:ext cx="2952900" cy="16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4325" lvl="0" marL="45720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Plus Jakarta Sans"/>
              <a:buChar char="●"/>
            </a:pPr>
            <a:r>
              <a:rPr b="0" i="0" lang="en-US" sz="135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Document comprehensive governance rules, standardize Bicep infrastructure template</a:t>
            </a:r>
            <a:r>
              <a:rPr lang="en-US" sz="1350"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135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4325" lvl="0" marL="45720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Plus Jakarta Sans"/>
              <a:buChar char="●"/>
            </a:pPr>
            <a:r>
              <a:rPr lang="en-US" sz="1350">
                <a:latin typeface="Plus Jakarta Sans"/>
                <a:ea typeface="Plus Jakarta Sans"/>
                <a:cs typeface="Plus Jakarta Sans"/>
                <a:sym typeface="Plus Jakarta Sans"/>
              </a:rPr>
              <a:t>F</a:t>
            </a:r>
            <a:r>
              <a:rPr b="0" i="0" lang="en-US" sz="135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inalize repository deployment overviews for seamless enterprise adoption.</a:t>
            </a:r>
            <a:endParaRPr/>
          </a:p>
        </p:txBody>
      </p:sp>
      <p:sp>
        <p:nvSpPr>
          <p:cNvPr id="269" name="Google Shape;269;p7"/>
          <p:cNvSpPr txBox="1"/>
          <p:nvPr/>
        </p:nvSpPr>
        <p:spPr>
          <a:xfrm>
            <a:off x="4548187" y="59817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github.com/AK-1612/Nexus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