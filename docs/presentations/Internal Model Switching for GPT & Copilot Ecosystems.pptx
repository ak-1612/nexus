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  <ns0:embeddedFont>
      <ns0:font typeface="JetBrains Mono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6775bd49-0b7c-4a45-8ceb-e1bfefc56527.fntdata" /><ns0:Relationship Id="rIdFont19" Type="http://schemas.openxmlformats.org/officeDocument/2006/relationships/font" Target="fonts/e5d228ef-2955-4435-8394-ce6fb29cb382.fntdata" /><ns0:Relationship Id="rIdFont20" Type="http://schemas.openxmlformats.org/officeDocument/2006/relationships/font" Target="fonts/ea59285a-c814-4e32-a127-70deb31c465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6200775"/>
            <a:ext cx="11182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4825" y="3546574"/>
            <a:ext cx="11182350" cy="1247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6200775"/>
            <a:ext cx="1118235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4825" y="1920775"/>
            <a:ext cx="57150" cy="571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4825" y="3746599"/>
            <a:ext cx="3600450" cy="1047750"/>
          </a:xfrm>
          <a:prstGeom prst="roundRect">
            <a:avLst>
              <a:gd name="adj" fmla="val 7272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4825" y="3546574"/>
            <a:ext cx="1118235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5775" y="3746599"/>
            <a:ext cx="3600450" cy="1047750"/>
          </a:xfrm>
          <a:prstGeom prst="roundRect">
            <a:avLst>
              <a:gd name="adj" fmla="val 7272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86725" y="3746599"/>
            <a:ext cx="3600450" cy="1047750"/>
          </a:xfrm>
          <a:prstGeom prst="roundRect">
            <a:avLst>
              <a:gd name="adj" fmla="val 7272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4825" y="4784824"/>
            <a:ext cx="3600450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825" y="3746599"/>
            <a:ext cx="360045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4825" y="3746599"/>
            <a:ext cx="9525" cy="104775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95750" y="3746599"/>
            <a:ext cx="9525" cy="104775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5775" y="4784824"/>
            <a:ext cx="3600450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5775" y="3746599"/>
            <a:ext cx="3600450" cy="381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5775" y="3746599"/>
            <a:ext cx="9525" cy="104775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6700" y="3746599"/>
            <a:ext cx="9525" cy="104775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6725" y="4784824"/>
            <a:ext cx="3600450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6725" y="3746599"/>
            <a:ext cx="360045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725" y="3746599"/>
            <a:ext cx="9525" cy="104775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677650" y="3746599"/>
            <a:ext cx="9525" cy="104775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825" y="1796950"/>
            <a:ext cx="11687175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EY TECHNOLOGY ARCHITECTURE // EXECUTIVE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825" y="1977925"/>
            <a:ext cx="11687175" cy="4161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b="1" sz="2850" i="0" u="none">
                <a:solidFill>
                  <a:srgbClr val="FFFFFF"/>
                </a:solidFill>
                <a:latin typeface="Plus Jakarta Sans"/>
              </a:rPr>
              <a:t>Internal Model Switching &amp; Governance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825" y="2508349"/>
            <a:ext cx="11687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E600"/>
                </a:solidFill>
                <a:latin typeface="Plus Jakarta Sans"/>
              </a:rPr>
              <a:t>Native Dynamic Routing across Azure OpenAI &amp; GitHub Copilot Ecosystems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825" y="2879824"/>
            <a:ext cx="9144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Tenant-enclosed architecture cutting global Azure LLM token spend by $17.3M annually while enforcing SOC2 compliance, zero data egress, and automated SAP chargeback.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825" y="6324600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EY </a:t>
            </a:r>
            <a:r>
              <a:rPr b="1" sz="900" i="0" u="none">
                <a:solidFill>
                  <a:srgbClr val="FFE600"/>
                </a:solidFill>
                <a:latin typeface="Plus Jakarta Sans"/>
              </a:rPr>
              <a:t>Technology Consulting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67950" y="6324600"/>
            <a:ext cx="17740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CONFIDENTIAL // SLIDE 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3994249"/>
            <a:ext cx="39528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ANNUAL FINANCIAL ROI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4156174"/>
            <a:ext cx="3952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ADE80"/>
                </a:solidFill>
                <a:latin typeface="Plus Jakarta Sans"/>
              </a:rPr>
              <a:t>$17.3M Global Savings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900" y="4432399"/>
            <a:ext cx="3952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60% to 80% OpEx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4850" y="3994249"/>
            <a:ext cx="39528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DATA 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4850" y="4156174"/>
            <a:ext cx="3952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E600"/>
                </a:solidFill>
                <a:latin typeface="Plus Jakarta Sans"/>
              </a:rPr>
              <a:t>100% Azure Tenant Enclosed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4850" y="4432399"/>
            <a:ext cx="3952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Zero External SaaS Egress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5800" y="3994249"/>
            <a:ext cx="38862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THROUGHPUT VELOCITY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5800" y="4156174"/>
            <a:ext cx="388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3x to 5x Ingestion Boost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5800" y="4432399"/>
            <a:ext cx="38862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Sub-50ms Developer SLA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6200775"/>
            <a:ext cx="11182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825" y="3482280"/>
            <a:ext cx="11182350" cy="1552575"/>
          </a:xfrm>
          <a:prstGeom prst="roundRect">
            <a:avLst>
              <a:gd name="adj" fmla="val 4907"/>
            </a:avLst>
          </a:prstGeom>
          <a:solidFill>
            <a:srgbClr val="1A1B22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6200775"/>
            <a:ext cx="1118235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4825" y="514350"/>
            <a:ext cx="57150" cy="571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4825" y="2224980"/>
            <a:ext cx="5495925" cy="1066800"/>
          </a:xfrm>
          <a:prstGeom prst="roundRect">
            <a:avLst>
              <a:gd name="adj" fmla="val 7142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2224980"/>
            <a:ext cx="5495925" cy="1066800"/>
          </a:xfrm>
          <a:prstGeom prst="roundRect">
            <a:avLst>
              <a:gd name="adj" fmla="val 7142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4825" y="3282255"/>
            <a:ext cx="5495925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825" y="2224980"/>
            <a:ext cx="5495925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4825" y="2224980"/>
            <a:ext cx="38100" cy="10668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91225" y="2224980"/>
            <a:ext cx="9525" cy="106680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1250" y="3282255"/>
            <a:ext cx="5495925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1250" y="2224980"/>
            <a:ext cx="5495925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1250" y="2224980"/>
            <a:ext cx="38100" cy="10668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77650" y="2224980"/>
            <a:ext cx="9525" cy="106680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850" y="3939480"/>
            <a:ext cx="10782300" cy="400050"/>
          </a:xfrm>
          <a:prstGeom prst="roundRect">
            <a:avLst>
              <a:gd name="adj" fmla="val 14285"/>
            </a:avLst>
          </a:prstGeom>
          <a:solidFill>
            <a:srgbClr val="0B0C10"/>
          </a:solidFill>
          <a:ln w="9525">
            <a:solidFill>
              <a:srgbClr val="2D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850" y="4434780"/>
            <a:ext cx="10782300" cy="400050"/>
          </a:xfrm>
          <a:prstGeom prst="roundRect">
            <a:avLst>
              <a:gd name="adj" fmla="val 14285"/>
            </a:avLst>
          </a:prstGeom>
          <a:solidFill>
            <a:srgbClr val="0B0C10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3706117"/>
            <a:ext cx="15240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467867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2467867"/>
            <a:ext cx="133350" cy="1333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4825" y="390525"/>
            <a:ext cx="11687175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01 // ENTERPRISE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825" y="571500"/>
            <a:ext cx="1168717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950" i="0" u="none">
                <a:solidFill>
                  <a:srgbClr val="FFFFFF"/>
                </a:solidFill>
                <a:latin typeface="Plus Jakarta Sans"/>
              </a:rPr>
              <a:t>Monolithic Cost Bottleneck vs. SOC2 Boundary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825" y="6324600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EY </a:t>
            </a:r>
            <a:r>
              <a:rPr b="1" sz="900" i="0" u="none">
                <a:solidFill>
                  <a:srgbClr val="FFE600"/>
                </a:solidFill>
                <a:latin typeface="Plus Jakarta Sans"/>
              </a:rPr>
              <a:t>Technology Consulting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7425" y="6324600"/>
            <a:ext cx="22621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02 // PROBLEM STATEMENT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" y="3682305"/>
            <a:ext cx="1125855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E600"/>
                </a:solidFill>
                <a:latin typeface="Plus Jakarta Sans"/>
              </a:rPr>
              <a:t>Tiered Governance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025" y="2444055"/>
            <a:ext cx="607695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Monolithic Cost Waste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475" y="2701230"/>
            <a:ext cx="5124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78% of queries are low-complexity tasks. Defaulting all practitioner prompts to flagship GPT-4o models generates </a:t>
            </a:r>
            <a:r>
              <a:rPr b="1" sz="975" i="0" u="none">
                <a:solidFill>
                  <a:srgbClr val="FFFFFF"/>
                </a:solidFill>
                <a:latin typeface="Plus Jakarta Sans"/>
              </a:rPr>
              <a:t>$10M+ in annual token waste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8450" y="2444055"/>
            <a:ext cx="554355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Strict Compliance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8900" y="2701230"/>
            <a:ext cx="5124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Third-party proxy platforms are </a:t>
            </a:r>
            <a:r>
              <a:rPr b="1" sz="975" i="0" u="none">
                <a:solidFill>
                  <a:srgbClr val="F87171"/>
                </a:solidFill>
                <a:latin typeface="Plus Jakarta Sans"/>
              </a:rPr>
              <a:t>strictly prohibited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. EY Risk mandates 100% Azure Subscription enclosure with zero data egress.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4063305"/>
            <a:ext cx="1928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7171"/>
                </a:solidFill>
                <a:latin typeface="Plus Jakarta Sans"/>
              </a:rPr>
              <a:t>MONOLITHIC APPROACH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1562" y="4063305"/>
            <a:ext cx="2976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All Prompts → Flagship Azure GPT-4o / o1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4550" y="4063305"/>
            <a:ext cx="1988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7171"/>
                </a:solidFill>
                <a:latin typeface="Plus Jakarta Sans"/>
              </a:rPr>
              <a:t>$5.00–$15.00 / 1M Tokens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775" y="4558605"/>
            <a:ext cx="1916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ADE80"/>
                </a:solidFill>
                <a:latin typeface="Plus Jakarta Sans"/>
              </a:rPr>
              <a:t>DYNAMIC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91000" y="4558605"/>
            <a:ext cx="4583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Plus Jakarta Sans"/>
              </a:rPr>
              <a:t>80% gpt-4o-mini ($0.15) | 15% gpt-4o ($2.50) | 5% o1 ($15.00)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8825" y="4558605"/>
            <a:ext cx="2095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ADE80"/>
                </a:solidFill>
                <a:latin typeface="Plus Jakarta Sans"/>
              </a:rPr>
              <a:t>60%–80% OpEx Reduction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6200775"/>
            <a:ext cx="11182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4825" y="6200775"/>
            <a:ext cx="1118235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514350"/>
            <a:ext cx="57150" cy="571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825" y="2422624"/>
            <a:ext cx="3600450" cy="2414587"/>
          </a:xfrm>
          <a:prstGeom prst="roundRect">
            <a:avLst>
              <a:gd name="adj" fmla="val 3155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5775" y="2422624"/>
            <a:ext cx="3600450" cy="2414587"/>
          </a:xfrm>
          <a:prstGeom prst="roundRect">
            <a:avLst>
              <a:gd name="adj" fmla="val 3155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86725" y="2422624"/>
            <a:ext cx="3600450" cy="2414587"/>
          </a:xfrm>
          <a:prstGeom prst="roundRect">
            <a:avLst>
              <a:gd name="adj" fmla="val 3155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3900" y="2679799"/>
            <a:ext cx="1495425" cy="219075"/>
          </a:xfrm>
          <a:prstGeom prst="roundRect">
            <a:avLst>
              <a:gd name="adj" fmla="val 17391"/>
            </a:avLst>
          </a:prstGeom>
          <a:solidFill>
            <a:srgbClr val="1B2F29"/>
          </a:solidFill>
          <a:ln w="9525">
            <a:solidFill>
              <a:srgbClr val="1C4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825" y="4827686"/>
            <a:ext cx="3600450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4825" y="2422624"/>
            <a:ext cx="360045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825" y="2422624"/>
            <a:ext cx="9525" cy="2414587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5750" y="2422624"/>
            <a:ext cx="9525" cy="2414587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14850" y="2679799"/>
            <a:ext cx="1585912" cy="219075"/>
          </a:xfrm>
          <a:prstGeom prst="roundRect">
            <a:avLst>
              <a:gd name="adj" fmla="val 17391"/>
            </a:avLst>
          </a:prstGeom>
          <a:solidFill>
            <a:srgbClr val="1E2E3C"/>
          </a:solidFill>
          <a:ln w="9525">
            <a:solidFill>
              <a:srgbClr val="234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5775" y="4827686"/>
            <a:ext cx="3600450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5775" y="2422624"/>
            <a:ext cx="360045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5775" y="2422624"/>
            <a:ext cx="9525" cy="2414587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6700" y="2422624"/>
            <a:ext cx="9525" cy="2414587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05800" y="2679799"/>
            <a:ext cx="1609725" cy="219075"/>
          </a:xfrm>
          <a:prstGeom prst="roundRect">
            <a:avLst>
              <a:gd name="adj" fmla="val 17391"/>
            </a:avLst>
          </a:prstGeom>
          <a:solidFill>
            <a:srgbClr val="35331E"/>
          </a:solidFill>
          <a:ln w="9525">
            <a:solidFill>
              <a:srgbClr val="5F5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6725" y="4827686"/>
            <a:ext cx="3600450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725" y="2422624"/>
            <a:ext cx="3600450" cy="381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6725" y="2422624"/>
            <a:ext cx="9525" cy="2414587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677650" y="2422624"/>
            <a:ext cx="9525" cy="2414587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825" y="390525"/>
            <a:ext cx="11687175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02 // TAXONOMY &amp; 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825" y="571500"/>
            <a:ext cx="1168717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950" i="0" u="none">
                <a:solidFill>
                  <a:srgbClr val="FFFFFF"/>
                </a:solidFill>
                <a:latin typeface="Plus Jakarta Sans"/>
              </a:rPr>
              <a:t>3-Tier Model Spectrum &amp; Workload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825" y="6324600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EY </a:t>
            </a:r>
            <a:r>
              <a:rPr b="1" sz="900" i="0" u="none">
                <a:solidFill>
                  <a:srgbClr val="FFE600"/>
                </a:solidFill>
                <a:latin typeface="Plus Jakarta Sans"/>
              </a:rPr>
              <a:t>Technology Consulting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1725" y="6324600"/>
            <a:ext cx="2119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03 // MODEL TAXONOMY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" y="2717899"/>
            <a:ext cx="1400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ADE80"/>
                </a:solidFill>
                <a:latin typeface="Plus Jakarta Sans"/>
              </a:rPr>
              <a:t>TIER 1: FAST INGESTION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2994124"/>
            <a:ext cx="395287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Azure GPT-4o-mini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3251299"/>
            <a:ext cx="39528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ADE80"/>
                </a:solidFill>
                <a:latin typeface="Plus Jakarta Sans"/>
              </a:rPr>
              <a:t>$0.15 </a:t>
            </a:r>
            <a:r>
              <a:rPr b="1" sz="900" i="0" u="none">
                <a:solidFill>
                  <a:srgbClr val="94A3B8"/>
                </a:solidFill>
                <a:latin typeface="Plus Jakarta Sans"/>
              </a:rPr>
              <a:t>/ 1M Tokens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0100" y="2717899"/>
            <a:ext cx="14906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38BDF8"/>
                </a:solidFill>
                <a:latin typeface="Plus Jakarta Sans"/>
              </a:rPr>
              <a:t>TIER 2: STANDARD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4850" y="2994124"/>
            <a:ext cx="395287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Azure GPT-4o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4850" y="3251299"/>
            <a:ext cx="39528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Plus Jakarta Sans"/>
              </a:rPr>
              <a:t>$2.50 </a:t>
            </a:r>
            <a:r>
              <a:rPr b="1" sz="900" i="0" u="none">
                <a:solidFill>
                  <a:srgbClr val="94A3B8"/>
                </a:solidFill>
                <a:latin typeface="Plus Jakarta Sans"/>
              </a:rPr>
              <a:t>/ 1M Tokens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1050" y="2717899"/>
            <a:ext cx="1514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TIER 3: DEEP REASONING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5800" y="2994124"/>
            <a:ext cx="38862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Azure o1 / Sonnet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5800" y="3251299"/>
            <a:ext cx="3886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E600"/>
                </a:solidFill>
                <a:latin typeface="Plus Jakarta Sans"/>
              </a:rPr>
              <a:t>$15.00 </a:t>
            </a:r>
            <a:r>
              <a:rPr b="1" sz="900" i="0" u="none">
                <a:solidFill>
                  <a:srgbClr val="94A3B8"/>
                </a:solidFill>
                <a:latin typeface="Plus Jakarta Sans"/>
              </a:rPr>
              <a:t>/ 1M Tokens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900" y="3575149"/>
            <a:ext cx="395287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Target Volume: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80% Allocation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900" y="3818036"/>
            <a:ext cx="3257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Use Cases: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SEC document chunking, trial balance JSON extraction.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3900" y="4246661"/>
            <a:ext cx="3257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Impact: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Sub-50ms completion SLA, 3x-5x velocity boost.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4850" y="3575149"/>
            <a:ext cx="395287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Target Volume: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15% Allocation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4850" y="3818036"/>
            <a:ext cx="3257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Use Cases: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Engagement dialogue, report synthesis, unit tests.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4850" y="4246661"/>
            <a:ext cx="395287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Impact: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High speed with standard reasoning depth.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5800" y="3575149"/>
            <a:ext cx="3886200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Target Volume: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5% Allocation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5800" y="3818036"/>
            <a:ext cx="3257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Use Cases: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Statutory revenue recognition, legal indemnification.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5800" y="4246661"/>
            <a:ext cx="3886200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Impact: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Multi-step logical &amp; mathematical proofing.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6200775"/>
            <a:ext cx="11182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825" y="4439542"/>
            <a:ext cx="11182350" cy="438150"/>
          </a:xfrm>
          <a:prstGeom prst="roundRect">
            <a:avLst>
              <a:gd name="adj" fmla="val 17391"/>
            </a:avLst>
          </a:prstGeom>
          <a:solidFill>
            <a:srgbClr val="1A1B22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6200775"/>
            <a:ext cx="1118235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4825" y="514350"/>
            <a:ext cx="57150" cy="571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4825" y="2382142"/>
            <a:ext cx="3600450" cy="1905000"/>
          </a:xfrm>
          <a:prstGeom prst="roundRect">
            <a:avLst>
              <a:gd name="adj" fmla="val 4000"/>
            </a:avLst>
          </a:prstGeom>
          <a:solidFill>
            <a:srgbClr val="1A1B22"/>
          </a:solidFill>
          <a:ln w="9525">
            <a:solidFill>
              <a:srgbClr val="2D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5775" y="2382142"/>
            <a:ext cx="3600450" cy="1905000"/>
          </a:xfrm>
          <a:prstGeom prst="roundRect">
            <a:avLst>
              <a:gd name="adj" fmla="val 4000"/>
            </a:avLst>
          </a:prstGeom>
          <a:solidFill>
            <a:srgbClr val="1A1B22"/>
          </a:solidFill>
          <a:ln w="9525">
            <a:solidFill>
              <a:srgbClr val="2D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86725" y="2382142"/>
            <a:ext cx="3600450" cy="1905000"/>
          </a:xfrm>
          <a:prstGeom prst="roundRect">
            <a:avLst>
              <a:gd name="adj" fmla="val 4000"/>
            </a:avLst>
          </a:prstGeom>
          <a:solidFill>
            <a:srgbClr val="1A1B22"/>
          </a:solidFill>
          <a:ln w="9525">
            <a:solidFill>
              <a:srgbClr val="2D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3900" y="2601217"/>
            <a:ext cx="795337" cy="219075"/>
          </a:xfrm>
          <a:prstGeom prst="roundRect">
            <a:avLst>
              <a:gd name="adj" fmla="val 17391"/>
            </a:avLst>
          </a:prstGeom>
          <a:solidFill>
            <a:srgbClr val="35331E"/>
          </a:solidFill>
          <a:ln w="9525">
            <a:solidFill>
              <a:srgbClr val="5F5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14850" y="2601217"/>
            <a:ext cx="795337" cy="219075"/>
          </a:xfrm>
          <a:prstGeom prst="roundRect">
            <a:avLst>
              <a:gd name="adj" fmla="val 17391"/>
            </a:avLst>
          </a:prstGeom>
          <a:solidFill>
            <a:srgbClr val="1E2E3C"/>
          </a:solidFill>
          <a:ln w="9525">
            <a:solidFill>
              <a:srgbClr val="234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5800" y="2601217"/>
            <a:ext cx="804862" cy="219075"/>
          </a:xfrm>
          <a:prstGeom prst="roundRect">
            <a:avLst>
              <a:gd name="adj" fmla="val 17391"/>
            </a:avLst>
          </a:prstGeom>
          <a:solidFill>
            <a:srgbClr val="1B2F29"/>
          </a:solidFill>
          <a:ln w="9525">
            <a:solidFill>
              <a:srgbClr val="1C4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939355"/>
            <a:ext cx="17145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2939355"/>
            <a:ext cx="1714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939355"/>
            <a:ext cx="171450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4825" y="390525"/>
            <a:ext cx="11687175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03 // ARCHITECTURAL MECHANICS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825" y="571500"/>
            <a:ext cx="1168717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950" i="0" u="none">
                <a:solidFill>
                  <a:srgbClr val="FFFFFF"/>
                </a:solidFill>
                <a:latin typeface="Plus Jakarta Sans"/>
              </a:rPr>
              <a:t>In-Depth Mechanics: Swapping Patterns A, B, &amp;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825" y="6324600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EY </a:t>
            </a:r>
            <a:r>
              <a:rPr b="1" sz="900" i="0" u="none">
                <a:solidFill>
                  <a:srgbClr val="FFE600"/>
                </a:solidFill>
                <a:latin typeface="Plus Jakarta Sans"/>
              </a:rPr>
              <a:t>Technology Consulting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4075" y="6324600"/>
            <a:ext cx="2428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04 // MECHANICS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82417"/>
            <a:ext cx="13620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E600"/>
                </a:solidFill>
                <a:latin typeface="Plus Jakarta Sans"/>
              </a:rPr>
              <a:t>SELECTION RULE: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0725" y="4582417"/>
            <a:ext cx="63912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Plus Jakarta Sans"/>
              </a:rPr>
              <a:t>Pattern C for 80%+ bulk ingestion; Pattern A for complex audit agents; Pattern B for developer IDEs.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2915542"/>
            <a:ext cx="370522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Agentic Tool Handoff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0" y="2915542"/>
            <a:ext cx="370522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Copilot Auto 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3450" y="2915542"/>
            <a:ext cx="363855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APIM Gateway Proxy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2639317"/>
            <a:ext cx="70008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PATTERN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7500" y="2639317"/>
            <a:ext cx="13144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E600"/>
                </a:solidFill>
                <a:latin typeface="Plus Jakarta Sans"/>
              </a:rPr>
              <a:t>+288ms Overhead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3172717"/>
            <a:ext cx="3257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Mechanism: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Model evaluates complexity mid-execution and emits </a:t>
            </a:r>
            <a:r>
              <a:rPr b="0" sz="975" i="0" u="none">
                <a:solidFill>
                  <a:srgbClr val="FFE600"/>
                </a:solidFill>
                <a:latin typeface="Plus Jakarta Sans"/>
              </a:rPr>
              <a:t>transfer_to_o1()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3620392"/>
            <a:ext cx="3257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Use Case: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Escalating complex statutory tax logic to o1.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0100" y="2639317"/>
            <a:ext cx="70008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38BDF8"/>
                </a:solidFill>
                <a:latin typeface="Plus Jakarta Sans"/>
              </a:rPr>
              <a:t>PATTERN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4175" y="2639317"/>
            <a:ext cx="12287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Sub-50ms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4850" y="3172717"/>
            <a:ext cx="3257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Mechanism: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VS Code Copilot client inspects AST context and file scope.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4850" y="3620392"/>
            <a:ext cx="3257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Use Case: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Fast engine for inline code; Sonnet for security audits.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1050" y="2639317"/>
            <a:ext cx="70961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ADE80"/>
                </a:solidFill>
                <a:latin typeface="Plus Jakarta Sans"/>
              </a:rPr>
              <a:t>PATTERN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2300" y="2639317"/>
            <a:ext cx="9715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ADE80"/>
                </a:solidFill>
                <a:latin typeface="Plus Jakarta Sans"/>
              </a:rPr>
              <a:t>0ms Penalty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5800" y="3172717"/>
            <a:ext cx="3257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Mechanism: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Azure APIM policy inspects 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X-EY-Task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headers in sub-10ms.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5800" y="3620392"/>
            <a:ext cx="3257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Use Case: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Routing bulk SEC document ingestion to mini.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6200775"/>
            <a:ext cx="11182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4825" y="6200775"/>
            <a:ext cx="1118235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514350"/>
            <a:ext cx="57150" cy="571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825" y="2206525"/>
            <a:ext cx="5495925" cy="2846635"/>
          </a:xfrm>
          <a:prstGeom prst="roundRect">
            <a:avLst>
              <a:gd name="adj" fmla="val 2676"/>
            </a:avLst>
          </a:prstGeom>
          <a:solidFill>
            <a:srgbClr val="0B0C10"/>
          </a:solidFill>
          <a:ln w="9525">
            <a:solidFill>
              <a:srgbClr val="2D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2496442"/>
            <a:ext cx="5495925" cy="1066800"/>
          </a:xfrm>
          <a:prstGeom prst="roundRect">
            <a:avLst>
              <a:gd name="adj" fmla="val 7142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3696592"/>
            <a:ext cx="5495925" cy="1066800"/>
          </a:xfrm>
          <a:prstGeom prst="roundRect">
            <a:avLst>
              <a:gd name="adj" fmla="val 7142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3553717"/>
            <a:ext cx="5495925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1250" y="2496442"/>
            <a:ext cx="5495925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1250" y="2496442"/>
            <a:ext cx="38100" cy="10668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77650" y="2496442"/>
            <a:ext cx="9525" cy="106680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1250" y="4753867"/>
            <a:ext cx="5495925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1250" y="3696592"/>
            <a:ext cx="5495925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1250" y="3696592"/>
            <a:ext cx="38100" cy="10668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77650" y="3696592"/>
            <a:ext cx="9525" cy="106680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2739330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3939480"/>
            <a:ext cx="114300" cy="133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4825" y="390525"/>
            <a:ext cx="11687175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04 // PATTERN A DEEP 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825" y="571500"/>
            <a:ext cx="1168717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950" i="0" u="none">
                <a:solidFill>
                  <a:srgbClr val="FFFFFF"/>
                </a:solidFill>
                <a:latin typeface="Plus Jakarta Sans"/>
              </a:rPr>
              <a:t>Agentic Tool Calling &amp; Autonomous Handoffs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825" y="6324600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EY </a:t>
            </a:r>
            <a:r>
              <a:rPr b="1" sz="900" i="0" u="none">
                <a:solidFill>
                  <a:srgbClr val="FFE600"/>
                </a:solidFill>
                <a:latin typeface="Plus Jakarta Sans"/>
              </a:rPr>
              <a:t>Technology Consulting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5475" y="6324600"/>
            <a:ext cx="26765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05 // PATTERN A 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" y="2377975"/>
            <a:ext cx="5248275" cy="2503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A7F3D0"/>
                </a:solidFill>
                <a:latin typeface="JetBrains Mono"/>
              </a:rPr>
              <a:t>def transfer_to_o1_agent(prompt_context: str) -&gt; str: """Invoked autonomously when logic exceeds limits.""" print("[EY-GOVERNANCE] Handoff to o1-preview") return azure_client.chat.completions.create( model="azure-o1-preview", messages=[{"role": "user", "content": prompt_context}] ).choices[0].message.content tools = [{ "type": "function", "function": { "name": "transfer_to_o1_agent", "description": "Invoke for complex statutory audit logic." } }]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8450" y="2715517"/>
            <a:ext cx="554355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1. Self-Evaluation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8900" y="2972692"/>
            <a:ext cx="5124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gpt-4o-mini evaluates query complexity against parameter limits and emits </a:t>
            </a:r>
            <a:r>
              <a:rPr b="0" sz="975" i="0" u="none">
                <a:solidFill>
                  <a:srgbClr val="FFE600"/>
                </a:solidFill>
                <a:latin typeface="Plus Jakarta Sans"/>
              </a:rPr>
              <a:t>transfer_to_o1_agent()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915667"/>
            <a:ext cx="55626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2. Context Preservation Step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8900" y="4172842"/>
            <a:ext cx="5124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Python wrapper catches tool call and dispatches conversation history buffer to </a:t>
            </a:r>
            <a:r>
              <a:rPr b="0" sz="975" i="0" u="none">
                <a:solidFill>
                  <a:srgbClr val="4ADE80"/>
                </a:solidFill>
                <a:latin typeface="Plus Jakarta Sans"/>
              </a:rPr>
              <a:t>azure-o1-preview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seamlessly.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6200775"/>
            <a:ext cx="11182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4825" y="6200775"/>
            <a:ext cx="1118235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514350"/>
            <a:ext cx="57150" cy="571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825" y="2455068"/>
            <a:ext cx="5495925" cy="2349698"/>
          </a:xfrm>
          <a:prstGeom prst="roundRect">
            <a:avLst>
              <a:gd name="adj" fmla="val 3242"/>
            </a:avLst>
          </a:prstGeom>
          <a:solidFill>
            <a:srgbClr val="0B0C10"/>
          </a:solidFill>
          <a:ln w="9525">
            <a:solidFill>
              <a:srgbClr val="2D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2496442"/>
            <a:ext cx="5495925" cy="1066800"/>
          </a:xfrm>
          <a:prstGeom prst="roundRect">
            <a:avLst>
              <a:gd name="adj" fmla="val 7142"/>
            </a:avLst>
          </a:prstGeom>
          <a:solidFill>
            <a:srgbClr val="1A1B22"/>
          </a:solidFill>
          <a:ln w="9525">
            <a:solidFill>
              <a:srgbClr val="2D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3696592"/>
            <a:ext cx="5495925" cy="1066800"/>
          </a:xfrm>
          <a:prstGeom prst="roundRect">
            <a:avLst>
              <a:gd name="adj" fmla="val 7142"/>
            </a:avLst>
          </a:prstGeom>
          <a:solidFill>
            <a:srgbClr val="1A1B22"/>
          </a:solidFill>
          <a:ln w="9525">
            <a:solidFill>
              <a:srgbClr val="2D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2739330"/>
            <a:ext cx="1333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3939480"/>
            <a:ext cx="13335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4825" y="390525"/>
            <a:ext cx="11687175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05 // PATTERN B DEEP 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825" y="571500"/>
            <a:ext cx="1168717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950" i="0" u="none">
                <a:solidFill>
                  <a:srgbClr val="FFFFFF"/>
                </a:solidFill>
                <a:latin typeface="Plus Jakarta Sans"/>
              </a:rPr>
              <a:t>Copilot Instruction Files &amp; Skill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825" y="6324600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EY </a:t>
            </a:r>
            <a:r>
              <a:rPr b="1" sz="900" i="0" u="none">
                <a:solidFill>
                  <a:srgbClr val="FFE600"/>
                </a:solidFill>
                <a:latin typeface="Plus Jakarta Sans"/>
              </a:rPr>
              <a:t>Technology Consulting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15475" y="6324600"/>
            <a:ext cx="26765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06 // PATTERN B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2626518"/>
            <a:ext cx="5248275" cy="2006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A7F3D0"/>
                </a:solidFill>
                <a:latin typeface="JetBrains Mono"/>
              </a:rPr>
              <a:t>## EY Copilot Governance Rules 1. Inline Edits &amp; Auto-Completions: - Route to Copilot Fast Engine (Sub-50ms SLA). 2. Security &amp; Statutory Audit Rules: - Trigger warning when touching `/audit_core`. - Prompt user to invoke `@Claude-3.5-Sonnet`. - Mandate step-by-step chain-of-thought verification. 3. Structured Output Mandate: - Enforce Pydantic schema for trial balances.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2715517"/>
            <a:ext cx="557212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Repo-Level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2972692"/>
            <a:ext cx="51530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Enforces model selection inside developer IDEs without extra proxy servers by monitoring file extensions (.py, .tf) and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9875" y="3915667"/>
            <a:ext cx="557212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Custom EY Extensions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172842"/>
            <a:ext cx="51530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Deploys </a:t>
            </a:r>
            <a:r>
              <a:rPr b="0" sz="975" i="0" u="none">
                <a:solidFill>
                  <a:srgbClr val="38BDF8"/>
                </a:solidFill>
                <a:latin typeface="Plus Jakarta Sans"/>
              </a:rPr>
              <a:t>@ey-audit-agent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inside VS Code via github/copilot-extensions SDK to route context directly to Azure.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6200775"/>
            <a:ext cx="11182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4825" y="6200775"/>
            <a:ext cx="1118235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514350"/>
            <a:ext cx="57150" cy="571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825" y="2289423"/>
            <a:ext cx="5495925" cy="2680989"/>
          </a:xfrm>
          <a:prstGeom prst="roundRect">
            <a:avLst>
              <a:gd name="adj" fmla="val 2842"/>
            </a:avLst>
          </a:prstGeom>
          <a:solidFill>
            <a:srgbClr val="0B0C10"/>
          </a:solidFill>
          <a:ln w="9525">
            <a:solidFill>
              <a:srgbClr val="2D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2496442"/>
            <a:ext cx="5495925" cy="1066800"/>
          </a:xfrm>
          <a:prstGeom prst="roundRect">
            <a:avLst>
              <a:gd name="adj" fmla="val 7142"/>
            </a:avLst>
          </a:prstGeom>
          <a:solidFill>
            <a:srgbClr val="1A1B22"/>
          </a:solidFill>
          <a:ln w="9525">
            <a:solidFill>
              <a:srgbClr val="2D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3696592"/>
            <a:ext cx="5495925" cy="1066800"/>
          </a:xfrm>
          <a:prstGeom prst="roundRect">
            <a:avLst>
              <a:gd name="adj" fmla="val 7142"/>
            </a:avLst>
          </a:prstGeom>
          <a:solidFill>
            <a:srgbClr val="1A1B22"/>
          </a:solidFill>
          <a:ln w="9525">
            <a:solidFill>
              <a:srgbClr val="2D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2739330"/>
            <a:ext cx="1333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3939480"/>
            <a:ext cx="104775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4825" y="390525"/>
            <a:ext cx="11687175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06 // PATTERN C DEEP 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825" y="571500"/>
            <a:ext cx="1168717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950" i="0" u="none">
                <a:solidFill>
                  <a:srgbClr val="FFFFFF"/>
                </a:solidFill>
                <a:latin typeface="Plus Jakarta Sans"/>
              </a:rPr>
              <a:t>Azure APIM Gateway Policy Routing &amp; WBS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825" y="6324600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EY </a:t>
            </a:r>
            <a:r>
              <a:rPr b="1" sz="900" i="0" u="none">
                <a:solidFill>
                  <a:srgbClr val="FFE600"/>
                </a:solidFill>
                <a:latin typeface="Plus Jakarta Sans"/>
              </a:rPr>
              <a:t>Technology Consulting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5950" y="6324600"/>
            <a:ext cx="26860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07 // PATTERN C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2460873"/>
            <a:ext cx="5248275" cy="23380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A7F3D0"/>
                </a:solidFill>
                <a:latin typeface="JetBrains Mono"/>
              </a:rPr>
              <a:t>@(context.Request.Headers.GetValueOrDefault("X-EY-Billing-ID"))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2715517"/>
            <a:ext cx="557212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Sub-10ms Gateway 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2972692"/>
            <a:ext cx="51530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Executes natively inside C# compiled APIM runtime, parsing headers and JSON payloads instantly with zero latency penalty.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3915667"/>
            <a:ext cx="56007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SAP / GFIS WBS Billing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4172842"/>
            <a:ext cx="51530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Injects </a:t>
            </a:r>
            <a:r>
              <a:rPr b="0" sz="975" i="0" u="none">
                <a:solidFill>
                  <a:srgbClr val="FFE600"/>
                </a:solidFill>
                <a:latin typeface="Plus Jakarta Sans"/>
              </a:rPr>
              <a:t>X-EY-WBS-Element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into request headers to log token spend directly against engagement billing codes.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6200775"/>
            <a:ext cx="11182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4825" y="6200775"/>
            <a:ext cx="1118235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514350"/>
            <a:ext cx="57150" cy="571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825" y="2834580"/>
            <a:ext cx="3600450" cy="1590675"/>
          </a:xfrm>
          <a:prstGeom prst="roundRect">
            <a:avLst>
              <a:gd name="adj" fmla="val 4790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5775" y="2834580"/>
            <a:ext cx="3600450" cy="1590675"/>
          </a:xfrm>
          <a:prstGeom prst="roundRect">
            <a:avLst>
              <a:gd name="adj" fmla="val 4790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86725" y="2834580"/>
            <a:ext cx="3600450" cy="1590675"/>
          </a:xfrm>
          <a:prstGeom prst="roundRect">
            <a:avLst>
              <a:gd name="adj" fmla="val 4790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4825" y="4415730"/>
            <a:ext cx="3600450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825" y="2834580"/>
            <a:ext cx="3600450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4825" y="2834580"/>
            <a:ext cx="38100" cy="1590675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5750" y="2834580"/>
            <a:ext cx="9525" cy="159067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5775" y="4415730"/>
            <a:ext cx="3600450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5775" y="2834580"/>
            <a:ext cx="3600450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5775" y="2834580"/>
            <a:ext cx="38100" cy="1590675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86700" y="2834580"/>
            <a:ext cx="9525" cy="159067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6725" y="4415730"/>
            <a:ext cx="3600450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6725" y="2834580"/>
            <a:ext cx="3600450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6725" y="2834580"/>
            <a:ext cx="38100" cy="1590675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677650" y="2834580"/>
            <a:ext cx="9525" cy="159067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3077467"/>
            <a:ext cx="104775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3077467"/>
            <a:ext cx="17145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75" y="3077467"/>
            <a:ext cx="171450" cy="1333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4825" y="390525"/>
            <a:ext cx="11687175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07 // PRODUCTION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825" y="571500"/>
            <a:ext cx="1168717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950" i="0" u="none">
                <a:solidFill>
                  <a:srgbClr val="FFFFFF"/>
                </a:solidFill>
                <a:latin typeface="Plus Jakarta Sans"/>
              </a:rPr>
              <a:t>Real-Life EY Enterprise Workload Pipelines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825" y="6324600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EY </a:t>
            </a:r>
            <a:r>
              <a:rPr b="1" sz="900" i="0" u="none">
                <a:solidFill>
                  <a:srgbClr val="FFE600"/>
                </a:solidFill>
                <a:latin typeface="Plus Jakarta Sans"/>
              </a:rPr>
              <a:t>Technology Consulting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6450" y="6324600"/>
            <a:ext cx="24884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08 // PRODUCTION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450" y="3053655"/>
            <a:ext cx="3736181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Tax &amp; Audit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1075" y="3053655"/>
            <a:ext cx="3669506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Legal &amp; Contract 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2025" y="3053655"/>
            <a:ext cx="360997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Developer Copilot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475" y="3310830"/>
            <a:ext cx="3917156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4ADE80"/>
                </a:solidFill>
                <a:latin typeface="Plus Jakarta Sans"/>
              </a:rPr>
              <a:t>78% Cost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" y="3572767"/>
            <a:ext cx="3917156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Bulk SEC filings parsed by </a:t>
            </a:r>
            <a:r>
              <a:rPr b="0" sz="975" i="0" u="none">
                <a:solidFill>
                  <a:srgbClr val="FFE600"/>
                </a:solidFill>
                <a:latin typeface="Plus Jakarta Sans"/>
              </a:rPr>
              <a:t>gpt-4o-mini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475" y="3834705"/>
            <a:ext cx="32289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Circuit Breaker: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If Pydantic score &lt; 0.85, auto-escalates to o1-preview or Partner queue.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3425" y="3310830"/>
            <a:ext cx="3917156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4ADE80"/>
                </a:solidFill>
                <a:latin typeface="Plus Jakarta Sans"/>
              </a:rPr>
              <a:t>65% Cost Reduction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3425" y="3572767"/>
            <a:ext cx="3917156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M&amp;A due diligence &amp; NDA processing.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3425" y="3834705"/>
            <a:ext cx="32289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Routing Rules: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Standard NDAs on Tier 1; indemnification on Tier 2; cross-border tax on Tier 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4375" y="3310830"/>
            <a:ext cx="38576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38BDF8"/>
                </a:solidFill>
                <a:latin typeface="Plus Jakarta Sans"/>
              </a:rPr>
              <a:t>Sub-50ms SLA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4375" y="3572767"/>
            <a:ext cx="38576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Routine inline completions use Copilot Fast Engine.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4375" y="3834705"/>
            <a:ext cx="32289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Escalation Path: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Full repository vulnerability refactoring escalates to `@Claude-3.5-Sonnet`.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6200775"/>
            <a:ext cx="11182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825" y="4682430"/>
            <a:ext cx="11182350" cy="447675"/>
          </a:xfrm>
          <a:prstGeom prst="roundRect">
            <a:avLst>
              <a:gd name="adj" fmla="val 17021"/>
            </a:avLst>
          </a:prstGeom>
          <a:solidFill>
            <a:srgbClr val="1A1B22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6200775"/>
            <a:ext cx="1118235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4825" y="514350"/>
            <a:ext cx="57150" cy="571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4825" y="2463105"/>
            <a:ext cx="1171723" cy="1905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76548" y="2463105"/>
            <a:ext cx="2072580" cy="1905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129" y="2463105"/>
            <a:ext cx="4758779" cy="1905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7908" y="2463105"/>
            <a:ext cx="3179266" cy="19050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4825" y="2982217"/>
            <a:ext cx="1171723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76548" y="2982217"/>
            <a:ext cx="207258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129" y="2982217"/>
            <a:ext cx="4758779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7908" y="2982217"/>
            <a:ext cx="3179266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825" y="3487042"/>
            <a:ext cx="1171723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76548" y="3487042"/>
            <a:ext cx="207258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129" y="3487042"/>
            <a:ext cx="4758779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7908" y="3487042"/>
            <a:ext cx="3179266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4825" y="4010917"/>
            <a:ext cx="1171723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76548" y="4010917"/>
            <a:ext cx="207258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129" y="4010917"/>
            <a:ext cx="4758779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7908" y="4010917"/>
            <a:ext cx="3179266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825" y="4534792"/>
            <a:ext cx="1171723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76548" y="4534792"/>
            <a:ext cx="207258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129" y="4534792"/>
            <a:ext cx="4758779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07908" y="4534792"/>
            <a:ext cx="3179266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4825" y="2129730"/>
          <a:ext cx="11182348" cy="24193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171723"/>
                <a:gridCol w="2072580"/>
                <a:gridCol w="4758779"/>
                <a:gridCol w="3179266"/>
              </a:tblGrid>
              <a:tr h="48387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E600"/>
                          </a:solidFill>
                          <a:latin typeface="Plus Jakarta Sans"/>
                        </a:rPr>
                        <a:t>Repository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E600"/>
                          </a:solidFill>
                          <a:latin typeface="Plus Jakarta Sans"/>
                        </a:rPr>
                        <a:t>Target Repo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E600"/>
                          </a:solidFill>
                          <a:latin typeface="Plus Jakarta Sans"/>
                        </a:rPr>
                        <a:t>Lab Execution Benchmark (1,500 QPS)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E600"/>
                          </a:solidFill>
                          <a:latin typeface="Plus Jakarta Sans"/>
                        </a:rPr>
                        <a:t>EY Native Adaptation Strategy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1B22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FFE600"/>
                          </a:solidFill>
                          <a:latin typeface="Plus Jakarta Sans"/>
                        </a:rPr>
                        <a:t>LiteLLM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94A3B8"/>
                          </a:solidFill>
                          <a:latin typeface="JetBrains Mono"/>
                        </a:rPr>
                        <a:t>BerriAI/litellm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Added ~12ms proxy overhead under 1,500 QPS. Reduced 429 errors to 0.01% via region fallbacks.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Reference logic for Azure APIM policy fallback arrays.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FFE600"/>
                          </a:solidFill>
                          <a:latin typeface="Plus Jakarta Sans"/>
                        </a:rPr>
                        <a:t>RouteLLM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94A3B8"/>
                          </a:solidFill>
                          <a:latin typeface="JetBrains Mono"/>
                        </a:rPr>
                        <a:t>lm-sys/RouteLLM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Matrix Factorization router added ~15ms latency. Routed 82% of prompts to mini while retaining 95.4% MMLU.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Provides quality threshold logic for Python orchestrators.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FFE600"/>
                          </a:solidFill>
                          <a:latin typeface="Plus Jakarta Sans"/>
                        </a:rPr>
                        <a:t>Semantic Router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94A3B8"/>
                          </a:solidFill>
                          <a:latin typeface="JetBrains Mono"/>
                        </a:rPr>
                        <a:t>aurelio-labs/semantic-router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In-memory vector index evaluated intent embeddings in &lt;8ms (CPU). Classification accuracy hit 98.6%.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Informs pre-execution classification rules in Azure Functions.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FFE600"/>
                          </a:solidFill>
                          <a:latin typeface="Plus Jakarta Sans"/>
                        </a:rPr>
                        <a:t>Copilot Extensions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94A3B8"/>
                          </a:solidFill>
                          <a:latin typeface="JetBrains Mono"/>
                        </a:rPr>
                        <a:t>github/copilot-extensions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Octokit webhook agent server routes context seamlessly inside VS Code panel without leaking source code.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Deploys EY-internal custom agent (@ey-audit-agent) inside Copilot.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1318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04825" y="390525"/>
            <a:ext cx="11687175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08 // EMPIRICAL LAB BENCHMARKS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825" y="571500"/>
            <a:ext cx="1168717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950" i="0" u="none">
                <a:solidFill>
                  <a:srgbClr val="FFFFFF"/>
                </a:solidFill>
                <a:latin typeface="Plus Jakarta Sans"/>
              </a:rPr>
              <a:t>Open-Source Framework Execution Findings (1,500 QPS Load)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275" y="4796730"/>
            <a:ext cx="109347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E600"/>
                </a:solidFill>
                <a:latin typeface="Plus Jakarta Sans"/>
              </a:rPr>
              <a:t>LAB TAKEAWAY:</a:t>
            </a:r>
            <a:r>
              <a:rPr b="1" sz="975" i="0" u="none">
                <a:solidFill>
                  <a:srgbClr val="FFE600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94A3B8"/>
                </a:solidFill>
                <a:latin typeface="Plus Jakarta Sans"/>
              </a:rPr>
              <a:t> Testing confirms routers cut LLM spend by 76%+. Standalone 3rd-party proxy servers violate SOC2—confirming native Azure APIM policies as EY's only compliant path.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825" y="6324600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EY </a:t>
            </a:r>
            <a:r>
              <a:rPr b="1" sz="900" i="0" u="none">
                <a:solidFill>
                  <a:srgbClr val="FFE600"/>
                </a:solidFill>
                <a:latin typeface="Plus Jakarta Sans"/>
              </a:rPr>
              <a:t>Technology Consulting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9350" y="6324600"/>
            <a:ext cx="205978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09 // LAB BENCHMARKS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6200775"/>
            <a:ext cx="11182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4825" y="6200775"/>
            <a:ext cx="1118235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514350"/>
            <a:ext cx="57150" cy="571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825" y="2501205"/>
            <a:ext cx="5510212" cy="2257425"/>
          </a:xfrm>
          <a:prstGeom prst="roundRect">
            <a:avLst>
              <a:gd name="adj" fmla="val 3375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05537" y="2501205"/>
            <a:ext cx="5481637" cy="2257425"/>
          </a:xfrm>
          <a:prstGeom prst="roundRect">
            <a:avLst>
              <a:gd name="adj" fmla="val 3375"/>
            </a:avLst>
          </a:prstGeom>
          <a:solidFill>
            <a:srgbClr val="1A1B22"/>
          </a:solidFill>
          <a:ln w="9525">
            <a:solidFill>
              <a:srgbClr val="2D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4825" y="4749105"/>
            <a:ext cx="5510212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4825" y="2501205"/>
            <a:ext cx="5510212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825" y="2501205"/>
            <a:ext cx="38100" cy="2257425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05512" y="2501205"/>
            <a:ext cx="9525" cy="22574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4612" y="3187005"/>
            <a:ext cx="5043487" cy="762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24612" y="3587055"/>
            <a:ext cx="837158" cy="76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24612" y="3987105"/>
            <a:ext cx="50303" cy="762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825" y="390525"/>
            <a:ext cx="11687175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09 // MACRO FINANCIAL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825" y="571500"/>
            <a:ext cx="1168717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950" i="0" u="none">
                <a:solidFill>
                  <a:srgbClr val="FFFFFF"/>
                </a:solidFill>
                <a:latin typeface="Plus Jakarta Sans"/>
              </a:rPr>
              <a:t>Financial &amp; Latency Optimization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825" y="6324600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EY </a:t>
            </a:r>
            <a:r>
              <a:rPr b="1" sz="900" i="0" u="none">
                <a:solidFill>
                  <a:srgbClr val="FFE600"/>
                </a:solidFill>
                <a:latin typeface="Plus Jakarta Sans"/>
              </a:rPr>
              <a:t>Technology Consulting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77475" y="6324600"/>
            <a:ext cx="1762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10 // FINANCIAL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2820292"/>
            <a:ext cx="6304359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300" i="0" u="none">
                <a:solidFill>
                  <a:srgbClr val="4ADE80"/>
                </a:solidFill>
                <a:latin typeface="Plus Jakarta Sans"/>
              </a:rPr>
              <a:t>$17.3M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3334642"/>
            <a:ext cx="6304359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Plus Jakarta Sans"/>
              </a:rPr>
              <a:t>Projected Annual Global Azure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75" y="3696592"/>
            <a:ext cx="5138737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Calculated across EY's 300,000 global practitioners generating 1.2B tokens monthly.</a:t>
            </a:r>
            <a:r>
              <a:t>
</a:t>
            </a:r>
            <a:r>
              <a:t>
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• Baseline Cost (100% GPT-4o): $33.6M annually.</a:t>
            </a:r>
            <a:r>
              <a:t>
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• Optimized Cost (80% Mini / 15% 4o / 5% o1): $16.3M annually.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4612" y="2720280"/>
            <a:ext cx="57673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E600"/>
                </a:solidFill>
                <a:latin typeface="Plus Jakarta Sans"/>
              </a:rPr>
              <a:t>BLENDED COST PER 1M TOKENS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4612" y="4234755"/>
            <a:ext cx="51387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94A3B8"/>
                </a:solidFill>
                <a:latin typeface="Plus Jakarta Sans"/>
              </a:rPr>
              <a:t>Shifting 80% volume to Tier 1 delivers a </a:t>
            </a:r>
            <a:r>
              <a:rPr b="1" sz="937" i="0" u="none">
                <a:solidFill>
                  <a:srgbClr val="FFFFFF"/>
                </a:solidFill>
                <a:latin typeface="Plus Jakarta Sans"/>
              </a:rPr>
              <a:t>94% to 99% cost reduction</a:t>
            </a:r>
            <a:r>
              <a:rPr b="0" sz="937" i="0" u="none">
                <a:solidFill>
                  <a:srgbClr val="94A3B8"/>
                </a:solidFill>
                <a:latin typeface="Plus Jakarta Sans"/>
              </a:rPr>
              <a:t> per token on bulk ingestion.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4612" y="2996505"/>
            <a:ext cx="1295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Tier 3: o1 / Sonnet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2300" y="2996505"/>
            <a:ext cx="9715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7171"/>
                </a:solidFill>
                <a:latin typeface="Plus Jakarta Sans"/>
              </a:rPr>
              <a:t>$15.00 / 1M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4612" y="3396555"/>
            <a:ext cx="11144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Tier 2: GPT-4o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9450" y="3396555"/>
            <a:ext cx="914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$2.50 / 1M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4612" y="3796605"/>
            <a:ext cx="1381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Tier 1: GPT-4o-mini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68025" y="3796605"/>
            <a:ext cx="8858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ADE80"/>
                </a:solidFill>
                <a:latin typeface="Plus Jakarta Sans"/>
              </a:rPr>
              <a:t>$0.15 / 1M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4825" y="6200775"/>
            <a:ext cx="111823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4825" y="6200775"/>
            <a:ext cx="11182350" cy="9525"/>
          </a:xfrm>
          <a:prstGeom prst="rect">
            <a:avLst/>
          </a:prstGeom>
          <a:solidFill>
            <a:srgbClr val="23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4825" y="514350"/>
            <a:ext cx="57150" cy="571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825" y="2615505"/>
            <a:ext cx="5495925" cy="2028825"/>
          </a:xfrm>
          <a:prstGeom prst="roundRect">
            <a:avLst>
              <a:gd name="adj" fmla="val 3755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2615505"/>
            <a:ext cx="5495925" cy="2028825"/>
          </a:xfrm>
          <a:prstGeom prst="roundRect">
            <a:avLst>
              <a:gd name="adj" fmla="val 3755"/>
            </a:avLst>
          </a:prstGeom>
          <a:solidFill>
            <a:srgbClr val="1A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4825" y="4634805"/>
            <a:ext cx="5495925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4825" y="2615505"/>
            <a:ext cx="5495925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825" y="2615505"/>
            <a:ext cx="9525" cy="20288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1225" y="2615505"/>
            <a:ext cx="9525" cy="20288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1250" y="4634805"/>
            <a:ext cx="5495925" cy="95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1250" y="2615505"/>
            <a:ext cx="5495925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1250" y="2615505"/>
            <a:ext cx="9525" cy="20288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77650" y="2615505"/>
            <a:ext cx="9525" cy="2028825"/>
          </a:xfrm>
          <a:prstGeom prst="rect">
            <a:avLst/>
          </a:prstGeom>
          <a:solidFill>
            <a:srgbClr val="2D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886967"/>
            <a:ext cx="1333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2886967"/>
            <a:ext cx="133350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4825" y="390525"/>
            <a:ext cx="11687175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FFE600"/>
                </a:solidFill>
                <a:latin typeface="Plus Jakarta Sans"/>
              </a:rPr>
              <a:t>10 // STRATEGIC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825" y="571500"/>
            <a:ext cx="1168717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950" i="0" u="none">
                <a:solidFill>
                  <a:srgbClr val="FFFFFF"/>
                </a:solidFill>
                <a:latin typeface="Plus Jakarta Sans"/>
              </a:rPr>
              <a:t>Strategic Pros &amp; Cons for EY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825" y="6324600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EY </a:t>
            </a:r>
            <a:r>
              <a:rPr b="1" sz="900" i="0" u="none">
                <a:solidFill>
                  <a:srgbClr val="FFE600"/>
                </a:solidFill>
                <a:latin typeface="Plus Jakarta Sans"/>
              </a:rPr>
              <a:t>Technology Consulting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6324600"/>
            <a:ext cx="23217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11 // STRATEGIC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50" y="2863155"/>
            <a:ext cx="6112668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4ADE80"/>
                </a:solidFill>
                <a:latin typeface="Plus Jakarta Sans"/>
              </a:rPr>
              <a:t>Strategic Advantages (Pros)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2863155"/>
            <a:ext cx="557212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F87171"/>
                </a:solidFill>
                <a:latin typeface="Plus Jakarta Sans"/>
              </a:rPr>
              <a:t>Operational Risks &amp; Mitigations (Cons)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3120330"/>
            <a:ext cx="6322218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FFFFFF"/>
                </a:solidFill>
                <a:latin typeface="Plus Jakarta Sans"/>
              </a:rPr>
              <a:t>$17.3M Annual Azure Savings.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3382267"/>
            <a:ext cx="6322218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FFFFFF"/>
                </a:solidFill>
                <a:latin typeface="Plus Jakarta Sans"/>
              </a:rPr>
              <a:t>100% Azure Tenant Enclosure: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Fully SOC2 compliant with zero data egress.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3644205"/>
            <a:ext cx="6322218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FFFFFF"/>
                </a:solidFill>
                <a:latin typeface="Plus Jakarta Sans"/>
              </a:rPr>
              <a:t>Automated SAP/GFIS Chargeback: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Real-time WBS header billing.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3906142"/>
            <a:ext cx="6322218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FFFFFF"/>
                </a:solidFill>
                <a:latin typeface="Plus Jakarta Sans"/>
              </a:rPr>
              <a:t>Zero Model Training: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Guaranteed under Azure Enterprise SLA.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4168080"/>
            <a:ext cx="6322218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FFFFFF"/>
                </a:solidFill>
                <a:latin typeface="Plus Jakarta Sans"/>
              </a:rPr>
              <a:t>Sub-50ms Developer SLA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maintained in GitHub Copilot.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0325" y="3120330"/>
            <a:ext cx="51530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• Misclassification Risk: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Query routed to wrong tier.</a:t>
            </a:r>
            <a:r>
              <a:t>
</a:t>
            </a:r>
            <a:r>
              <a:rPr b="0" sz="975" i="0" u="none">
                <a:solidFill>
                  <a:srgbClr val="4ADE80"/>
                </a:solidFill>
                <a:latin typeface="Plus Jakarta Sans"/>
              </a:rPr>
              <a:t>→ Mitigation: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Circuit breaker re-executes on o1 if confidence &lt; 0.85.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0325" y="3587055"/>
            <a:ext cx="51530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• APIM Policy Sprawl: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Rules unmanageable over time.</a:t>
            </a:r>
            <a:r>
              <a:t>
</a:t>
            </a:r>
            <a:r>
              <a:rPr b="0" sz="975" i="0" u="none">
                <a:solidFill>
                  <a:srgbClr val="4ADE80"/>
                </a:solidFill>
                <a:latin typeface="Plus Jakarta Sans"/>
              </a:rPr>
              <a:t>→ Mitigation: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Centralize APIM rules in EY Bicep / Terraform CI/CD.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0325" y="4053780"/>
            <a:ext cx="51530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FFFFF"/>
                </a:solidFill>
                <a:latin typeface="Plus Jakarta Sans"/>
              </a:rPr>
              <a:t>• Context Loss: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State loss during jumps.</a:t>
            </a:r>
            <a:r>
              <a:t>
</a:t>
            </a:r>
            <a:r>
              <a:rPr b="0" sz="975" i="0" u="none">
                <a:solidFill>
                  <a:srgbClr val="4ADE80"/>
                </a:solidFill>
                <a:latin typeface="Plus Jakarta Sans"/>
              </a:rPr>
              <a:t>→ Mitigation: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Forward chat history buffer in tool payloads.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