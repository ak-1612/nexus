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  <ns0:embeddedFont>
      <ns0:font typeface="Roboto Mono"/>
      <ns0:bold ns1:id="rIdFont15"/>
      <ns0:regular ns1:id="rIdFont16"/>
      <ns0:italic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7682cb98-fded-4754-9369-ffee8b57a290.fntdata" /><ns0:Relationship Id="rIdFont14" Type="http://schemas.openxmlformats.org/officeDocument/2006/relationships/font" Target="fonts/2c6d30fb-3d4e-43a0-b739-d25e68e2f5c9.fntdata" /><ns0:Relationship Id="rIdFont15" Type="http://schemas.openxmlformats.org/officeDocument/2006/relationships/font" Target="fonts/e0473731-a193-41f8-82de-ee09cadda7a7.fntdata" /><ns0:Relationship Id="rIdFont16" Type="http://schemas.openxmlformats.org/officeDocument/2006/relationships/font" Target="fonts/736c81b7-8472-4b70-8cbf-ba9a427cdb62.fntdata" /><ns0:Relationship Id="rIdFont17" Type="http://schemas.openxmlformats.org/officeDocument/2006/relationships/font" Target="fonts/1de11dc8-233a-4e97-b311-49d2e7de9f4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6096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5314950"/>
            <a:ext cx="1066800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31495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219200"/>
            <a:ext cx="11430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Roboto Mono"/>
              </a:rPr>
              <a:t>PROJECT NEXUS — PATTERN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695450"/>
            <a:ext cx="10101262" cy="2102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520"/>
              </a:lnSpc>
            </a:pPr>
            <a:r>
              <a:rPr b="1" sz="4800" i="0" u="none">
                <a:solidFill>
                  <a:srgbClr val="0F172A"/>
                </a:solidFill>
                <a:latin typeface="Inter"/>
              </a:rPr>
              <a:t>Enterprise LLM Token Optimization, Governance &amp; Resilient Routing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629275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Anshul Vikas Kumaria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9055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Summer Intern, EY AI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66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305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77000" y="24669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77000" y="33051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7700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1451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814512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762000"/>
            <a:ext cx="11430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Executive Summary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90700"/>
            <a:ext cx="367545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The Enterprise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90700"/>
            <a:ext cx="436304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563EB"/>
                </a:solidFill>
                <a:latin typeface="Inter"/>
              </a:rPr>
              <a:t>The NEXUS Pattern B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371725"/>
            <a:ext cx="4819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latin typeface="Inter"/>
              </a:rPr>
              <a:t>Runaway Consumption: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Defaulting prompts to expensive flagship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209925"/>
            <a:ext cx="4819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latin typeface="Inter"/>
              </a:rPr>
              <a:t>Lack of Accountability: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Unallocated cloud spend without strict cost-center tracking.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048125"/>
            <a:ext cx="4819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latin typeface="Inter"/>
              </a:rPr>
              <a:t>Fragile Dependencies: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Upstream API dependencies prone to timeout bottlenecks.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2371725"/>
            <a:ext cx="4819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latin typeface="Inter"/>
              </a:rPr>
              <a:t>Modular Architecture: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Decouples prompt classification and WBS validation from transport.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3209925"/>
            <a:ext cx="4819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latin typeface="Inter"/>
              </a:rPr>
              <a:t>Mandatory Perimeter Defense: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Rejects unbilled requests before gateway contact.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4048125"/>
            <a:ext cx="4819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latin typeface="Inter"/>
              </a:rPr>
              <a:t>Automated Resilience: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Implements exponential backoffs, circuit breakers, and failovers.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201150" y="828675"/>
            <a:ext cx="222885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1638300"/>
            <a:ext cx="424815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3048000"/>
            <a:ext cx="424815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4457700"/>
            <a:ext cx="424815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91150" y="1638300"/>
            <a:ext cx="6038850" cy="445770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7588448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Dynamic Multi-Tier Model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15450" y="904875"/>
            <a:ext cx="2095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Roboto Mono"/>
              </a:rPr>
              <a:t>src/orchestrator/router.py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95950" y="1943100"/>
            <a:ext cx="5524500" cy="3848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678DD"/>
                </a:solidFill>
                <a:latin typeface="Roboto Mono"/>
              </a:rPr>
              <a:t>class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E5C07B"/>
                </a:solidFill>
                <a:latin typeface="Roboto Mono"/>
              </a:rPr>
              <a:t>DynamicModelRouter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61AFEF"/>
                </a:solidFill>
                <a:latin typeface="Roboto Mono"/>
              </a:rPr>
              <a:t>classify_task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(self, task_type: str, prompt: str):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if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any(re.search(p, prompt)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for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p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TIER_3_PATTERNS):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MODEL_TIERS[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"tier_3"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] </a:t>
            </a:r>
            <a:r>
              <a:rPr b="0" sz="975" i="1" u="none">
                <a:solidFill>
                  <a:srgbClr val="F8FAFC"/>
                </a:solidFill>
                <a:latin typeface="Roboto Mono"/>
              </a:rPr>
              <a:t># o1-preview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if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any(re.search(p, prompt)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for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p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TIER_1_PATTERNS):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MODEL_TIERS[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"tier_1"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] </a:t>
            </a:r>
            <a:r>
              <a:rPr b="0" sz="975" i="1" u="none">
                <a:solidFill>
                  <a:srgbClr val="F8FAFC"/>
                </a:solidFill>
                <a:latin typeface="Roboto Mono"/>
              </a:rPr>
              <a:t># gpt-4o-mini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if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any(re.search(p, prompt)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for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p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HIGH_COMPLEXITY_PATTERNS):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MODEL_TIERS[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"tier_2"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] </a:t>
            </a:r>
            <a:r>
              <a:rPr b="0" sz="975" i="1" u="none">
                <a:solidFill>
                  <a:srgbClr val="F8FAFC"/>
                </a:solidFill>
                <a:latin typeface="Roboto Mono"/>
              </a:rPr>
              <a:t># gpt-4o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MODEL_TIERS[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"tier_2"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] </a:t>
            </a:r>
            <a:r>
              <a:rPr b="0" sz="975" i="1" u="none">
                <a:solidFill>
                  <a:srgbClr val="F8FAFC"/>
                </a:solidFill>
                <a:latin typeface="Roboto Mono"/>
              </a:rPr>
              <a:t># default fallback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1876425"/>
            <a:ext cx="49506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oboto Mono"/>
              </a:rPr>
              <a:t>Tier 1: gpt-4o-mini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200275"/>
            <a:ext cx="3867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Cost-optimized. Targets syntax checks, JSON parsing, and boilerplate extraction.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286125"/>
            <a:ext cx="49506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oboto Mono"/>
              </a:rPr>
              <a:t>Tier 2: gpt-4o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609975"/>
            <a:ext cx="3867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Standard reasoning. Handles complex debugging and architecture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695825"/>
            <a:ext cx="495061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oboto Mono"/>
              </a:rPr>
              <a:t>Tier 3: o1-preview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5019675"/>
            <a:ext cx="38671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Frontier reasoning intelligence strictly for statutory audits and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201150" y="828675"/>
            <a:ext cx="222885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18882" y="1638300"/>
            <a:ext cx="5611117" cy="445770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762000"/>
            <a:ext cx="8738592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Governance &amp; WBS Billing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15450" y="904875"/>
            <a:ext cx="20955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Roboto Mono"/>
              </a:rPr>
              <a:t>src/orchestrator/router.py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3682" y="1943100"/>
            <a:ext cx="5096767" cy="3848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678DD"/>
                </a:solidFill>
                <a:latin typeface="Roboto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61AFEF"/>
                </a:solidFill>
                <a:latin typeface="Roboto Mono"/>
              </a:rPr>
              <a:t>prepare_request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(self, request: object) -&gt; PreparedRequest: </a:t>
            </a:r>
            <a:r>
              <a:rPr b="0" sz="975" i="1" u="none">
                <a:solidFill>
                  <a:srgbClr val="F8FAFC"/>
                </a:solidFill>
                <a:latin typeface="Roboto Mono"/>
              </a:rPr>
              <a:t># Extract corporate billing headers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wbs = next( (headers[name].strip()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for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name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( 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"X-EY-WBS-Element"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, 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"X-WBS-Element"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, 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"X-Cost-Center"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if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headers.get(name, 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).strip()), 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, 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if not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wbs: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raise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ValueError(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"Missing mandatory X-EY-WBS-Element"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) </a:t>
            </a:r>
            <a:r>
              <a:rPr b="0" sz="975" i="1" u="none">
                <a:solidFill>
                  <a:srgbClr val="F8FAFC"/>
                </a:solidFill>
                <a:latin typeface="Roboto Mono"/>
              </a:rPr>
              <a:t># Enforce strict WBS Regex contract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if not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re.fullmatch(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r"WBS-[A-Z0-9_-]+"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, wbs):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raise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ValueError(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"Invalid X-EY-WBS-Element format"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638300"/>
            <a:ext cx="613709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Header Standards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019300"/>
            <a:ext cx="477113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Accepts standardized corporate header aliases (X-EY-WBS-Element, X-WBS-Element, X-Cost-Center).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571750"/>
            <a:ext cx="477113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Validates strict matching format ensuring only billed traffic enters the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429000"/>
            <a:ext cx="613709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Perimeter Defense Interception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477113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Requests lacking a valid WBS identifier are intercepted immediately via Python exceptions.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362450"/>
            <a:ext cx="477113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Rejected at the API boundary with </a:t>
            </a:r>
            <a:r>
              <a:rPr b="1" sz="1350" i="0" u="none">
                <a:latin typeface="Inter"/>
              </a:rPr>
              <a:t>HTTP 400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prior to touching upstream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81350"/>
            <a:ext cx="10668000" cy="2707481"/>
          </a:xfrm>
          <a:prstGeom prst="roundRect">
            <a:avLst>
              <a:gd name="adj" fmla="val 422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91550" y="828675"/>
            <a:ext cx="283845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638300"/>
            <a:ext cx="51435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1638300"/>
            <a:ext cx="5143500" cy="1162050"/>
          </a:xfrm>
          <a:prstGeom prst="roundRect">
            <a:avLst>
              <a:gd name="adj" fmla="val 98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3486150"/>
            <a:ext cx="10153650" cy="20978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678DD"/>
                </a:solidFill>
                <a:latin typeface="Roboto Mono"/>
              </a:rPr>
              <a:t>def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61AFEF"/>
                </a:solidFill>
                <a:latin typeface="Roboto Mono"/>
              </a:rPr>
              <a:t>send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(self, request: GatewayRequest) -&gt; GatewayResponse: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if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self.circuit_breaker.is_open():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raise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RuntimeError(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"Primary gateway circuit is open"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try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: payload = self._send_to(self.primary_url, body, headers) self.circuit_breaker.record_success()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GatewayResponse(payload[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"model"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], 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"primary"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, payload, telemetry)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except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(HTTPError, URLError, TimeoutError, OSError): self.circuit_breaker.record_failure()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return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self._send_to_fallback(request_body, prepared.headers, telemetry)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7788473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Resilience, Retries &amp; Local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5850" y="904875"/>
            <a:ext cx="2705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Roboto Mono"/>
              </a:rPr>
              <a:t>src/orchestrator/gateway_client.py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1876425"/>
            <a:ext cx="612576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Retry &amp; Backoff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181225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3 automatic retries with exponential backoff (1s, 2s, 4s) to absorb jitter.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1876425"/>
            <a:ext cx="566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Circuit Breaker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2181225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Trips after consecutive failures. Reroutes to local mock-gateway for zero downtime.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53550" y="828675"/>
            <a:ext cx="2076450" cy="352425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3076575"/>
            <a:ext cx="46758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18882" y="1638300"/>
            <a:ext cx="5611117" cy="4457700"/>
          </a:xfrm>
          <a:prstGeom prst="roundRect">
            <a:avLst>
              <a:gd name="adj" fmla="val 256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762000"/>
            <a:ext cx="7825978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Zero-Tolerance Telemetry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67850" y="904875"/>
            <a:ext cx="1943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Roboto Mono"/>
              </a:rPr>
              <a:t>src/schemas/telemetry.py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3682" y="1943100"/>
            <a:ext cx="5096767" cy="3848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C678DD"/>
                </a:solidFill>
                <a:latin typeface="Roboto Mono"/>
              </a:rPr>
              <a:t>from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pydantic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import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BaseModel, ConfigDict, Field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from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typing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import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Literal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from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datetime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import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datetime 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class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</a:t>
            </a:r>
            <a:r>
              <a:rPr b="0" sz="975" i="0" u="none">
                <a:solidFill>
                  <a:srgbClr val="E5C07B"/>
                </a:solidFill>
                <a:latin typeface="Roboto Mono"/>
              </a:rPr>
              <a:t>TelemetryEvent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(BaseModel): </a:t>
            </a:r>
            <a:r>
              <a:rPr b="0" sz="975" i="1" u="none">
                <a:solidFill>
                  <a:srgbClr val="F8FAFC"/>
                </a:solidFill>
                <a:latin typeface="Roboto Mono"/>
              </a:rPr>
              <a:t># Extra properties explicitly forbidden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model_config = ConfigDict(extra=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"forbid"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, strict=</a:t>
            </a:r>
            <a:r>
              <a:rPr b="0" sz="975" i="0" u="none">
                <a:solidFill>
                  <a:srgbClr val="C678DD"/>
                </a:solidFill>
                <a:latin typeface="Roboto Mono"/>
              </a:rPr>
              <a:t>True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) timestamp: datetime </a:t>
            </a:r>
            <a:r>
              <a:rPr b="0" sz="975" i="1" u="none">
                <a:solidFill>
                  <a:srgbClr val="F8FAFC"/>
                </a:solidFill>
                <a:latin typeface="Roboto Mono"/>
              </a:rPr>
              <a:t># Billing field must match exact Regex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 wbsElement: str = Field(pattern=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r"^WBS-[A-Z0-9_-]+$"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) promptComplexity: Literal[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"low"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, </a:t>
            </a:r>
            <a:r>
              <a:rPr b="0" sz="975" i="0" u="none">
                <a:solidFill>
                  <a:srgbClr val="98C379"/>
                </a:solidFill>
                <a:latin typeface="Roboto Mono"/>
              </a:rPr>
              <a:t>"high"</a:t>
            </a:r>
            <a:r>
              <a:rPr b="0" sz="975" i="0" u="none">
                <a:solidFill>
                  <a:srgbClr val="F8FAFC"/>
                </a:solidFill>
                <a:latin typeface="Roboto Mono"/>
              </a:rPr>
              <a:t>] tokenCount: int = Field(ge=1)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38300"/>
            <a:ext cx="584485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0F172A"/>
                </a:solidFill>
                <a:latin typeface="Roboto Mono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324100"/>
            <a:ext cx="584485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Strict Fields Enforced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590800"/>
            <a:ext cx="584485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Roboto Mono"/>
              </a:rPr>
              <a:t>timestamp, wbsElement, promptComplexity, tokenCount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390900"/>
            <a:ext cx="5844852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1" sz="4800" i="0" u="none">
                <a:solidFill>
                  <a:srgbClr val="2563EB"/>
                </a:solidFill>
                <a:latin typeface="Roboto Mono"/>
              </a:rPr>
              <a:t>22 /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076700"/>
            <a:ext cx="584485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Automated Tests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343400"/>
            <a:ext cx="584485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Roboto Mono"/>
              </a:rPr>
              <a:t>pytest -v execution in 0.08s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